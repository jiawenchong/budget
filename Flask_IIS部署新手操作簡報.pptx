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12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35D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57200"/>
          </a:xfrm>
          <a:prstGeom prst="rect">
            <a:avLst/>
          </a:prstGeom>
          <a:noFill/>
        </p:spPr>
        <p:txBody>
          <a:bodyPr wrap="square" anchor="t" tIns="0" bIns="0" lIns="25400" rIns="2540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400" b="1">
                <a:solidFill>
                  <a:srgbClr val="35D0E6"/>
                </a:solidFill>
                <a:latin typeface="Microsoft JhengHei"/>
              </a:rPr>
              <a:t>DEPLOYMENT GUIDE ‧ 新手專用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331720"/>
            <a:ext cx="10607040" cy="1280160"/>
          </a:xfrm>
          <a:prstGeom prst="rect">
            <a:avLst/>
          </a:prstGeom>
          <a:noFill/>
        </p:spPr>
        <p:txBody>
          <a:bodyPr wrap="square" anchor="t" tIns="0" bIns="0" lIns="25400" rIns="254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4000" b="1">
                <a:solidFill>
                  <a:srgbClr val="FFFFFF"/>
                </a:solidFill>
                <a:latin typeface="Microsoft JhengHei"/>
              </a:rPr>
              <a:t>Flask 應用部署到 IIS
操作簡報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4023360"/>
            <a:ext cx="10515600" cy="457200"/>
          </a:xfrm>
          <a:prstGeom prst="rect">
            <a:avLst/>
          </a:prstGeom>
          <a:noFill/>
        </p:spPr>
        <p:txBody>
          <a:bodyPr wrap="square" anchor="t" tIns="0" bIns="0" lIns="25400" rIns="2540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600" b="0">
                <a:solidFill>
                  <a:srgbClr val="C9CFD8"/>
                </a:solidFill>
                <a:latin typeface="Microsoft JhengHei"/>
              </a:rPr>
              <a:t>IIS + HttpPlatformHandler + Waitress ‧ 支援 AD Windows 驗證 (SSO)</a:t>
            </a:r>
          </a:p>
        </p:txBody>
      </p:sp>
      <p:sp>
        <p:nvSpPr>
          <p:cNvPr id="7" name="Rectangle 6"/>
          <p:cNvSpPr/>
          <p:nvPr/>
        </p:nvSpPr>
        <p:spPr>
          <a:xfrm>
            <a:off x="841248" y="4572000"/>
            <a:ext cx="4114800" cy="25400"/>
          </a:xfrm>
          <a:prstGeom prst="rect">
            <a:avLst/>
          </a:prstGeom>
          <a:solidFill>
            <a:srgbClr val="2A2F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4754880"/>
            <a:ext cx="10515600" cy="1097280"/>
          </a:xfrm>
          <a:prstGeom prst="rect">
            <a:avLst/>
          </a:prstGeom>
          <a:noFill/>
        </p:spPr>
        <p:txBody>
          <a:bodyPr wrap="square" anchor="t" tIns="0" bIns="0" lIns="25400" r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0">
                <a:solidFill>
                  <a:srgbClr val="8A93A1"/>
                </a:solidFill>
                <a:latin typeface="Microsoft JhengHei"/>
              </a:rPr>
              <a:t>一步一步教你：打開什麼、按什麼、踩到坑怎麼救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00" b="0">
                <a:solidFill>
                  <a:srgbClr val="8A93A1"/>
                </a:solidFill>
                <a:latin typeface="Microsoft JhengHei"/>
              </a:rPr>
              <a:t>範例專案：budgetagent ‧ 部署路徑 D:\Web Service\budgetagent ‧ Port 8001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12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960120"/>
          </a:xfrm>
          <a:prstGeom prst="rect">
            <a:avLst/>
          </a:prstGeom>
          <a:solidFill>
            <a:srgbClr val="35D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28016"/>
            <a:ext cx="10058400" cy="292608"/>
          </a:xfrm>
          <a:prstGeom prst="rect">
            <a:avLst/>
          </a:prstGeom>
          <a:noFill/>
        </p:spPr>
        <p:txBody>
          <a:bodyPr wrap="square" anchor="t" tIns="0" bIns="0" lIns="25400" rIns="2540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35D0E6"/>
                </a:solidFill>
                <a:latin typeface="Microsoft JhengHei"/>
              </a:rPr>
              <a:t>WHY ‧ 為什麼用這套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84048"/>
            <a:ext cx="10241280" cy="548640"/>
          </a:xfrm>
          <a:prstGeom prst="rect">
            <a:avLst/>
          </a:prstGeom>
          <a:noFill/>
        </p:spPr>
        <p:txBody>
          <a:bodyPr wrap="square" anchor="t" tIns="0" bIns="0" lIns="25400" rIns="2540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2600" b="1">
                <a:solidFill>
                  <a:srgbClr val="FFFFFF"/>
                </a:solidFill>
                <a:latin typeface="Microsoft JhengHei"/>
              </a:rPr>
              <a:t>三個角色，與架 IIS 的好處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98480" y="274320"/>
            <a:ext cx="1188720" cy="457200"/>
          </a:xfrm>
          <a:prstGeom prst="rect">
            <a:avLst/>
          </a:prstGeom>
          <a:noFill/>
        </p:spPr>
        <p:txBody>
          <a:bodyPr wrap="square" anchor="t" tIns="0" bIns="0" lIns="25400" rIns="25400">
            <a:spAutoFit/>
          </a:bodyPr>
          <a:lstStyle/>
          <a:p>
            <a:pPr algn="r"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8A93A1"/>
                </a:solidFill>
                <a:latin typeface="Microsoft JhengHei"/>
              </a:rPr>
              <a:t>PAGE 02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987552"/>
            <a:ext cx="11274552" cy="25400"/>
          </a:xfrm>
          <a:prstGeom prst="rect">
            <a:avLst/>
          </a:prstGeom>
          <a:solidFill>
            <a:srgbClr val="2A2F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280160"/>
            <a:ext cx="5577840" cy="2377440"/>
          </a:xfrm>
          <a:prstGeom prst="rect">
            <a:avLst/>
          </a:prstGeom>
          <a:solidFill>
            <a:srgbClr val="1B1F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1280160"/>
            <a:ext cx="5577840" cy="384048"/>
          </a:xfrm>
          <a:prstGeom prst="rect">
            <a:avLst/>
          </a:prstGeom>
          <a:solidFill>
            <a:srgbClr val="2A2F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1280160"/>
            <a:ext cx="76200" cy="384048"/>
          </a:xfrm>
          <a:prstGeom prst="rect">
            <a:avLst/>
          </a:prstGeom>
          <a:solidFill>
            <a:srgbClr val="35D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1280160"/>
            <a:ext cx="5303520" cy="384048"/>
          </a:xfrm>
          <a:prstGeom prst="rect">
            <a:avLst/>
          </a:prstGeom>
          <a:noFill/>
        </p:spPr>
        <p:txBody>
          <a:bodyPr wrap="square" anchor="ctr" tIns="0" bIns="0" lIns="25400" rIns="2540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400" b="1">
                <a:solidFill>
                  <a:srgbClr val="35D0E6"/>
                </a:solidFill>
                <a:latin typeface="Microsoft JhengHei"/>
              </a:rPr>
              <a:t>三個角色（白話）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" y="1874520"/>
            <a:ext cx="88900" cy="310896"/>
          </a:xfrm>
          <a:prstGeom prst="rect">
            <a:avLst/>
          </a:prstGeom>
          <a:solidFill>
            <a:srgbClr val="35D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1828800"/>
            <a:ext cx="2377440" cy="384048"/>
          </a:xfrm>
          <a:prstGeom prst="rect">
            <a:avLst/>
          </a:prstGeom>
          <a:noFill/>
        </p:spPr>
        <p:txBody>
          <a:bodyPr wrap="square" anchor="ctr" tIns="0" bIns="0" lIns="25400" rIns="2540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50" b="1">
                <a:solidFill>
                  <a:srgbClr val="FFFFFF"/>
                </a:solidFill>
                <a:latin typeface="Microsoft JhengHei"/>
              </a:rPr>
              <a:t>IIS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108960" y="1828800"/>
            <a:ext cx="2743200" cy="384048"/>
          </a:xfrm>
          <a:prstGeom prst="rect">
            <a:avLst/>
          </a:prstGeom>
          <a:noFill/>
        </p:spPr>
        <p:txBody>
          <a:bodyPr wrap="square" anchor="ctr" tIns="0" bIns="0" lIns="25400" rIns="2540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C9CFD8"/>
                </a:solidFill>
                <a:latin typeface="Microsoft JhengHei"/>
              </a:rPr>
              <a:t>餐廳大門＋接待員：接請求、做 Windows 驗證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" y="2313432"/>
            <a:ext cx="88900" cy="310896"/>
          </a:xfrm>
          <a:prstGeom prst="rect">
            <a:avLst/>
          </a:prstGeom>
          <a:solidFill>
            <a:srgbClr val="3E8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" y="2267712"/>
            <a:ext cx="2377440" cy="384048"/>
          </a:xfrm>
          <a:prstGeom prst="rect">
            <a:avLst/>
          </a:prstGeom>
          <a:noFill/>
        </p:spPr>
        <p:txBody>
          <a:bodyPr wrap="square" anchor="ctr" tIns="0" bIns="0" lIns="25400" rIns="2540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50" b="1">
                <a:solidFill>
                  <a:srgbClr val="FFFFFF"/>
                </a:solidFill>
                <a:latin typeface="Microsoft JhengHei"/>
              </a:rPr>
              <a:t>HttpPlatformHandler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108960" y="2267712"/>
            <a:ext cx="2743200" cy="384048"/>
          </a:xfrm>
          <a:prstGeom prst="rect">
            <a:avLst/>
          </a:prstGeom>
          <a:noFill/>
        </p:spPr>
        <p:txBody>
          <a:bodyPr wrap="square" anchor="ctr" tIns="0" bIns="0" lIns="25400" rIns="2540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C9CFD8"/>
                </a:solidFill>
                <a:latin typeface="Microsoft JhengHei"/>
              </a:rPr>
              <a:t>IIS 外掛：自動啟動 Python、當機自動重開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0080" y="2752344"/>
            <a:ext cx="88900" cy="310896"/>
          </a:xfrm>
          <a:prstGeom prst="rect">
            <a:avLst/>
          </a:prstGeom>
          <a:solidFill>
            <a:srgbClr val="4FC1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" y="2706624"/>
            <a:ext cx="2377440" cy="384048"/>
          </a:xfrm>
          <a:prstGeom prst="rect">
            <a:avLst/>
          </a:prstGeom>
          <a:noFill/>
        </p:spPr>
        <p:txBody>
          <a:bodyPr wrap="square" anchor="ctr" tIns="0" bIns="0" lIns="25400" rIns="2540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50" b="1">
                <a:solidFill>
                  <a:srgbClr val="FFFFFF"/>
                </a:solidFill>
                <a:latin typeface="Microsoft JhengHei"/>
              </a:rPr>
              <a:t>Waitress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108960" y="2706624"/>
            <a:ext cx="2743200" cy="384048"/>
          </a:xfrm>
          <a:prstGeom prst="rect">
            <a:avLst/>
          </a:prstGeom>
          <a:noFill/>
        </p:spPr>
        <p:txBody>
          <a:bodyPr wrap="square" anchor="ctr" tIns="0" bIns="0" lIns="25400" rIns="2540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C9CFD8"/>
                </a:solidFill>
                <a:latin typeface="Microsoft JhengHei"/>
              </a:rPr>
              <a:t>翻譯員：把請求翻成 Python 看得懂的格式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40080" y="3191256"/>
            <a:ext cx="88900" cy="310896"/>
          </a:xfrm>
          <a:prstGeom prst="rect">
            <a:avLst/>
          </a:prstGeom>
          <a:solidFill>
            <a:srgbClr val="E7B4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2960" y="3145536"/>
            <a:ext cx="2377440" cy="384048"/>
          </a:xfrm>
          <a:prstGeom prst="rect">
            <a:avLst/>
          </a:prstGeom>
          <a:noFill/>
        </p:spPr>
        <p:txBody>
          <a:bodyPr wrap="square" anchor="ctr" tIns="0" bIns="0" lIns="25400" rIns="2540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50" b="1">
                <a:solidFill>
                  <a:srgbClr val="FFFFFF"/>
                </a:solidFill>
                <a:latin typeface="Microsoft JhengHei"/>
              </a:rPr>
              <a:t>Flask（你的程式）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108960" y="3145536"/>
            <a:ext cx="2743200" cy="384048"/>
          </a:xfrm>
          <a:prstGeom prst="rect">
            <a:avLst/>
          </a:prstGeom>
          <a:noFill/>
        </p:spPr>
        <p:txBody>
          <a:bodyPr wrap="square" anchor="ctr" tIns="0" bIns="0" lIns="25400" rIns="2540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C9CFD8"/>
                </a:solidFill>
                <a:latin typeface="Microsoft JhengHei"/>
              </a:rPr>
              <a:t>廚師：真正做事、回傳網頁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245352" y="1280160"/>
            <a:ext cx="5486400" cy="2377440"/>
          </a:xfrm>
          <a:prstGeom prst="rect">
            <a:avLst/>
          </a:prstGeom>
          <a:solidFill>
            <a:srgbClr val="1B1F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245352" y="1280160"/>
            <a:ext cx="5486400" cy="384048"/>
          </a:xfrm>
          <a:prstGeom prst="rect">
            <a:avLst/>
          </a:prstGeom>
          <a:solidFill>
            <a:srgbClr val="2A2F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245352" y="1280160"/>
            <a:ext cx="76200" cy="384048"/>
          </a:xfrm>
          <a:prstGeom prst="rect">
            <a:avLst/>
          </a:prstGeom>
          <a:solidFill>
            <a:srgbClr val="E7B4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28232" y="1280160"/>
            <a:ext cx="5212080" cy="384048"/>
          </a:xfrm>
          <a:prstGeom prst="rect">
            <a:avLst/>
          </a:prstGeom>
          <a:noFill/>
        </p:spPr>
        <p:txBody>
          <a:bodyPr wrap="square" anchor="ctr" tIns="0" bIns="0" lIns="25400" rIns="2540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400" b="1">
                <a:solidFill>
                  <a:srgbClr val="E7B43C"/>
                </a:solidFill>
                <a:latin typeface="Microsoft JhengHei"/>
              </a:rPr>
              <a:t>架 IIS 的好處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28232" y="1828800"/>
            <a:ext cx="5120640" cy="1737360"/>
          </a:xfrm>
          <a:prstGeom prst="rect">
            <a:avLst/>
          </a:prstGeom>
          <a:noFill/>
        </p:spPr>
        <p:txBody>
          <a:bodyPr wrap="square" anchor="t" tIns="0" bIns="0" lIns="25400" rIns="25400">
            <a:spAutoFit/>
          </a:bodyPr>
          <a:lstStyle/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250" b="0">
                <a:solidFill>
                  <a:srgbClr val="C9CFD8"/>
                </a:solidFill>
                <a:latin typeface="Microsoft JhengHei"/>
              </a:rPr>
              <a:t>✓ 員工免登入，自動認出 Windows 身分（SSO）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250" b="0">
                <a:solidFill>
                  <a:srgbClr val="C9CFD8"/>
                </a:solidFill>
                <a:latin typeface="Microsoft JhengHei"/>
              </a:rPr>
              <a:t>✓ 程式當掉，IIS 自動把它重開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250" b="0">
                <a:solidFill>
                  <a:srgbClr val="C9CFD8"/>
                </a:solidFill>
                <a:latin typeface="Microsoft JhengHei"/>
              </a:rPr>
              <a:t>✓ 關掉所有視窗 / 登出 / 重開機，網站照跑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250" b="0">
                <a:solidFill>
                  <a:srgbClr val="C9CFD8"/>
                </a:solidFill>
                <a:latin typeface="Microsoft JhengHei"/>
              </a:rPr>
              <a:t>✓ 微軟官方推薦，取代停止維護的 wfastcgi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250" b="0">
                <a:solidFill>
                  <a:srgbClr val="C9CFD8"/>
                </a:solidFill>
                <a:latin typeface="Microsoft JhengHei"/>
              </a:rPr>
              <a:t>✓ 不用另外裝服務管理工具（NSSM 等）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57200" y="3840480"/>
            <a:ext cx="11274552" cy="2468880"/>
          </a:xfrm>
          <a:prstGeom prst="rect">
            <a:avLst/>
          </a:prstGeom>
          <a:solidFill>
            <a:srgbClr val="1B1F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457200" y="3840480"/>
            <a:ext cx="11274552" cy="384048"/>
          </a:xfrm>
          <a:prstGeom prst="rect">
            <a:avLst/>
          </a:prstGeom>
          <a:solidFill>
            <a:srgbClr val="2A2F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457200" y="3840480"/>
            <a:ext cx="76200" cy="384048"/>
          </a:xfrm>
          <a:prstGeom prst="rect">
            <a:avLst/>
          </a:prstGeom>
          <a:solidFill>
            <a:srgbClr val="35D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0080" y="3840480"/>
            <a:ext cx="11000232" cy="384048"/>
          </a:xfrm>
          <a:prstGeom prst="rect">
            <a:avLst/>
          </a:prstGeom>
          <a:noFill/>
        </p:spPr>
        <p:txBody>
          <a:bodyPr wrap="square" anchor="ctr" tIns="0" bIns="0" lIns="25400" rIns="2540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400" b="1">
                <a:solidFill>
                  <a:srgbClr val="35D0E6"/>
                </a:solidFill>
                <a:latin typeface="Microsoft JhengHei"/>
              </a:rPr>
              <a:t>請求怎麼流動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85800" y="4572000"/>
            <a:ext cx="1965960" cy="1280160"/>
          </a:xfrm>
          <a:prstGeom prst="rect">
            <a:avLst/>
          </a:prstGeom>
          <a:solidFill>
            <a:srgbClr val="101216"/>
          </a:solidFill>
          <a:ln w="12700">
            <a:solidFill>
              <a:srgbClr val="2A2F3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685800" y="4572000"/>
            <a:ext cx="1965960" cy="76200"/>
          </a:xfrm>
          <a:prstGeom prst="rect">
            <a:avLst/>
          </a:prstGeom>
          <a:solidFill>
            <a:srgbClr val="35D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85800" y="4736592"/>
            <a:ext cx="1965960" cy="502920"/>
          </a:xfrm>
          <a:prstGeom prst="rect">
            <a:avLst/>
          </a:prstGeom>
          <a:noFill/>
        </p:spPr>
        <p:txBody>
          <a:bodyPr wrap="square" anchor="t" tIns="0" bIns="0" lIns="25400" rIns="2540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FFFFFF"/>
                </a:solidFill>
                <a:latin typeface="Microsoft JhengHei"/>
              </a:rPr>
              <a:t>瀏覽器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85800" y="5285232"/>
            <a:ext cx="1965960" cy="502920"/>
          </a:xfrm>
          <a:prstGeom prst="rect">
            <a:avLst/>
          </a:prstGeom>
          <a:noFill/>
        </p:spPr>
        <p:txBody>
          <a:bodyPr wrap="square" anchor="t" tIns="0" bIns="0" lIns="25400" rIns="2540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8A93A1"/>
                </a:solidFill>
                <a:latin typeface="Microsoft JhengHei"/>
              </a:rPr>
              <a:t>自動帶
Windows 憑證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560320" y="4983480"/>
            <a:ext cx="365760" cy="457200"/>
          </a:xfrm>
          <a:prstGeom prst="rect">
            <a:avLst/>
          </a:prstGeom>
          <a:noFill/>
        </p:spPr>
        <p:txBody>
          <a:bodyPr wrap="square" anchor="t" tIns="0" bIns="0" lIns="25400" rIns="2540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400" b="1">
                <a:solidFill>
                  <a:srgbClr val="35D0E6"/>
                </a:solidFill>
                <a:latin typeface="Microsoft JhengHei"/>
              </a:rPr>
              <a:t>▶</a:t>
            </a:r>
          </a:p>
        </p:txBody>
      </p:sp>
      <p:sp>
        <p:nvSpPr>
          <p:cNvPr id="38" name="Rectangle 37"/>
          <p:cNvSpPr/>
          <p:nvPr/>
        </p:nvSpPr>
        <p:spPr>
          <a:xfrm>
            <a:off x="2926080" y="4572000"/>
            <a:ext cx="1965960" cy="1280160"/>
          </a:xfrm>
          <a:prstGeom prst="rect">
            <a:avLst/>
          </a:prstGeom>
          <a:solidFill>
            <a:srgbClr val="101216"/>
          </a:solidFill>
          <a:ln w="12700">
            <a:solidFill>
              <a:srgbClr val="2A2F3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2926080" y="4572000"/>
            <a:ext cx="1965960" cy="76200"/>
          </a:xfrm>
          <a:prstGeom prst="rect">
            <a:avLst/>
          </a:prstGeom>
          <a:solidFill>
            <a:srgbClr val="3E8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2926080" y="4736592"/>
            <a:ext cx="1965960" cy="502920"/>
          </a:xfrm>
          <a:prstGeom prst="rect">
            <a:avLst/>
          </a:prstGeom>
          <a:noFill/>
        </p:spPr>
        <p:txBody>
          <a:bodyPr wrap="square" anchor="t" tIns="0" bIns="0" lIns="25400" rIns="2540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FFFFFF"/>
                </a:solidFill>
                <a:latin typeface="Microsoft JhengHei"/>
              </a:rPr>
              <a:t>IIS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926080" y="5285232"/>
            <a:ext cx="1965960" cy="502920"/>
          </a:xfrm>
          <a:prstGeom prst="rect">
            <a:avLst/>
          </a:prstGeom>
          <a:noFill/>
        </p:spPr>
        <p:txBody>
          <a:bodyPr wrap="square" anchor="t" tIns="0" bIns="0" lIns="25400" rIns="2540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8A93A1"/>
                </a:solidFill>
                <a:latin typeface="Microsoft JhengHei"/>
              </a:rPr>
              <a:t>Windows 驗證
產生 token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800600" y="4983480"/>
            <a:ext cx="365760" cy="457200"/>
          </a:xfrm>
          <a:prstGeom prst="rect">
            <a:avLst/>
          </a:prstGeom>
          <a:noFill/>
        </p:spPr>
        <p:txBody>
          <a:bodyPr wrap="square" anchor="t" tIns="0" bIns="0" lIns="25400" rIns="2540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400" b="1">
                <a:solidFill>
                  <a:srgbClr val="35D0E6"/>
                </a:solidFill>
                <a:latin typeface="Microsoft JhengHei"/>
              </a:rPr>
              <a:t>▶</a:t>
            </a:r>
          </a:p>
        </p:txBody>
      </p:sp>
      <p:sp>
        <p:nvSpPr>
          <p:cNvPr id="43" name="Rectangle 42"/>
          <p:cNvSpPr/>
          <p:nvPr/>
        </p:nvSpPr>
        <p:spPr>
          <a:xfrm>
            <a:off x="5166360" y="4572000"/>
            <a:ext cx="1965960" cy="1280160"/>
          </a:xfrm>
          <a:prstGeom prst="rect">
            <a:avLst/>
          </a:prstGeom>
          <a:solidFill>
            <a:srgbClr val="101216"/>
          </a:solidFill>
          <a:ln w="12700">
            <a:solidFill>
              <a:srgbClr val="2A2F3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5166360" y="4572000"/>
            <a:ext cx="1965960" cy="76200"/>
          </a:xfrm>
          <a:prstGeom prst="rect">
            <a:avLst/>
          </a:prstGeom>
          <a:solidFill>
            <a:srgbClr val="4FC1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5166360" y="4736592"/>
            <a:ext cx="1965960" cy="502920"/>
          </a:xfrm>
          <a:prstGeom prst="rect">
            <a:avLst/>
          </a:prstGeom>
          <a:noFill/>
        </p:spPr>
        <p:txBody>
          <a:bodyPr wrap="square" anchor="t" tIns="0" bIns="0" lIns="25400" rIns="2540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FFFFFF"/>
                </a:solidFill>
                <a:latin typeface="Microsoft JhengHei"/>
              </a:rPr>
              <a:t>HttpPlatform
Handler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166360" y="5285232"/>
            <a:ext cx="1965960" cy="502920"/>
          </a:xfrm>
          <a:prstGeom prst="rect">
            <a:avLst/>
          </a:prstGeom>
          <a:noFill/>
        </p:spPr>
        <p:txBody>
          <a:bodyPr wrap="square" anchor="t" tIns="0" bIns="0" lIns="25400" rIns="2540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8A93A1"/>
                </a:solidFill>
                <a:latin typeface="Microsoft JhengHei"/>
              </a:rPr>
              <a:t>啟動 Python
轉發請求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040880" y="4983480"/>
            <a:ext cx="365760" cy="457200"/>
          </a:xfrm>
          <a:prstGeom prst="rect">
            <a:avLst/>
          </a:prstGeom>
          <a:noFill/>
        </p:spPr>
        <p:txBody>
          <a:bodyPr wrap="square" anchor="t" tIns="0" bIns="0" lIns="25400" rIns="2540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400" b="1">
                <a:solidFill>
                  <a:srgbClr val="35D0E6"/>
                </a:solidFill>
                <a:latin typeface="Microsoft JhengHei"/>
              </a:rPr>
              <a:t>▶</a:t>
            </a:r>
          </a:p>
        </p:txBody>
      </p:sp>
      <p:sp>
        <p:nvSpPr>
          <p:cNvPr id="48" name="Rectangle 47"/>
          <p:cNvSpPr/>
          <p:nvPr/>
        </p:nvSpPr>
        <p:spPr>
          <a:xfrm>
            <a:off x="7406640" y="4572000"/>
            <a:ext cx="1965960" cy="1280160"/>
          </a:xfrm>
          <a:prstGeom prst="rect">
            <a:avLst/>
          </a:prstGeom>
          <a:solidFill>
            <a:srgbClr val="101216"/>
          </a:solidFill>
          <a:ln w="12700">
            <a:solidFill>
              <a:srgbClr val="2A2F3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7406640" y="4572000"/>
            <a:ext cx="1965960" cy="76200"/>
          </a:xfrm>
          <a:prstGeom prst="rect">
            <a:avLst/>
          </a:prstGeom>
          <a:solidFill>
            <a:srgbClr val="E7B4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7406640" y="4736592"/>
            <a:ext cx="1965960" cy="502920"/>
          </a:xfrm>
          <a:prstGeom prst="rect">
            <a:avLst/>
          </a:prstGeom>
          <a:noFill/>
        </p:spPr>
        <p:txBody>
          <a:bodyPr wrap="square" anchor="t" tIns="0" bIns="0" lIns="25400" rIns="2540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FFFFFF"/>
                </a:solidFill>
                <a:latin typeface="Microsoft JhengHei"/>
              </a:rPr>
              <a:t>Waitress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406640" y="5285232"/>
            <a:ext cx="1965960" cy="502920"/>
          </a:xfrm>
          <a:prstGeom prst="rect">
            <a:avLst/>
          </a:prstGeom>
          <a:noFill/>
        </p:spPr>
        <p:txBody>
          <a:bodyPr wrap="square" anchor="t" tIns="0" bIns="0" lIns="25400" rIns="2540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8A93A1"/>
                </a:solidFill>
                <a:latin typeface="Microsoft JhengHei"/>
              </a:rPr>
              <a:t>轉成 WSGI
格式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281160" y="4983480"/>
            <a:ext cx="365760" cy="457200"/>
          </a:xfrm>
          <a:prstGeom prst="rect">
            <a:avLst/>
          </a:prstGeom>
          <a:noFill/>
        </p:spPr>
        <p:txBody>
          <a:bodyPr wrap="square" anchor="t" tIns="0" bIns="0" lIns="25400" rIns="2540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400" b="1">
                <a:solidFill>
                  <a:srgbClr val="35D0E6"/>
                </a:solidFill>
                <a:latin typeface="Microsoft JhengHei"/>
              </a:rPr>
              <a:t>▶</a:t>
            </a:r>
          </a:p>
        </p:txBody>
      </p:sp>
      <p:sp>
        <p:nvSpPr>
          <p:cNvPr id="53" name="Rectangle 52"/>
          <p:cNvSpPr/>
          <p:nvPr/>
        </p:nvSpPr>
        <p:spPr>
          <a:xfrm>
            <a:off x="9646920" y="4572000"/>
            <a:ext cx="1965960" cy="1280160"/>
          </a:xfrm>
          <a:prstGeom prst="rect">
            <a:avLst/>
          </a:prstGeom>
          <a:solidFill>
            <a:srgbClr val="101216"/>
          </a:solidFill>
          <a:ln w="12700">
            <a:solidFill>
              <a:srgbClr val="2A2F3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9646920" y="4572000"/>
            <a:ext cx="1965960" cy="76200"/>
          </a:xfrm>
          <a:prstGeom prst="rect">
            <a:avLst/>
          </a:prstGeom>
          <a:solidFill>
            <a:srgbClr val="C77D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9646920" y="4736592"/>
            <a:ext cx="1965960" cy="502920"/>
          </a:xfrm>
          <a:prstGeom prst="rect">
            <a:avLst/>
          </a:prstGeom>
          <a:noFill/>
        </p:spPr>
        <p:txBody>
          <a:bodyPr wrap="square" anchor="t" tIns="0" bIns="0" lIns="25400" rIns="2540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FFFFFF"/>
                </a:solidFill>
                <a:latin typeface="Microsoft JhengHei"/>
              </a:rPr>
              <a:t>Flask 應用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9646920" y="5285232"/>
            <a:ext cx="1965960" cy="502920"/>
          </a:xfrm>
          <a:prstGeom prst="rect">
            <a:avLst/>
          </a:prstGeom>
          <a:noFill/>
        </p:spPr>
        <p:txBody>
          <a:bodyPr wrap="square" anchor="t" tIns="0" bIns="0" lIns="25400" rIns="2540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8A93A1"/>
                </a:solidFill>
                <a:latin typeface="Microsoft JhengHei"/>
              </a:rPr>
              <a:t>解析身分
執行業務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12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960120"/>
          </a:xfrm>
          <a:prstGeom prst="rect">
            <a:avLst/>
          </a:prstGeom>
          <a:solidFill>
            <a:srgbClr val="35D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28016"/>
            <a:ext cx="10058400" cy="292608"/>
          </a:xfrm>
          <a:prstGeom prst="rect">
            <a:avLst/>
          </a:prstGeom>
          <a:noFill/>
        </p:spPr>
        <p:txBody>
          <a:bodyPr wrap="square" anchor="t" tIns="0" bIns="0" lIns="25400" rIns="2540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35D0E6"/>
                </a:solidFill>
                <a:latin typeface="Microsoft JhengHei"/>
              </a:rPr>
              <a:t>CORE ‧ 最重要觀念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84048"/>
            <a:ext cx="10241280" cy="548640"/>
          </a:xfrm>
          <a:prstGeom prst="rect">
            <a:avLst/>
          </a:prstGeom>
          <a:noFill/>
        </p:spPr>
        <p:txBody>
          <a:bodyPr wrap="square" anchor="t" tIns="0" bIns="0" lIns="25400" rIns="2540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2600" b="1">
                <a:solidFill>
                  <a:srgbClr val="FFFFFF"/>
                </a:solidFill>
                <a:latin typeface="Microsoft JhengHei"/>
              </a:rPr>
              <a:t>有「兩台電腦」，別搞混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98480" y="274320"/>
            <a:ext cx="1188720" cy="457200"/>
          </a:xfrm>
          <a:prstGeom prst="rect">
            <a:avLst/>
          </a:prstGeom>
          <a:noFill/>
        </p:spPr>
        <p:txBody>
          <a:bodyPr wrap="square" anchor="t" tIns="0" bIns="0" lIns="25400" rIns="25400">
            <a:spAutoFit/>
          </a:bodyPr>
          <a:lstStyle/>
          <a:p>
            <a:pPr algn="r"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8A93A1"/>
                </a:solidFill>
                <a:latin typeface="Microsoft JhengHei"/>
              </a:rPr>
              <a:t>PAGE 03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987552"/>
            <a:ext cx="11274552" cy="25400"/>
          </a:xfrm>
          <a:prstGeom prst="rect">
            <a:avLst/>
          </a:prstGeom>
          <a:solidFill>
            <a:srgbClr val="2A2F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280160"/>
            <a:ext cx="5486400" cy="3108960"/>
          </a:xfrm>
          <a:prstGeom prst="rect">
            <a:avLst/>
          </a:prstGeom>
          <a:solidFill>
            <a:srgbClr val="1B1F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1280160"/>
            <a:ext cx="5486400" cy="384048"/>
          </a:xfrm>
          <a:prstGeom prst="rect">
            <a:avLst/>
          </a:prstGeom>
          <a:solidFill>
            <a:srgbClr val="2A2F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1280160"/>
            <a:ext cx="76200" cy="384048"/>
          </a:xfrm>
          <a:prstGeom prst="rect">
            <a:avLst/>
          </a:prstGeom>
          <a:solidFill>
            <a:srgbClr val="4FC1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1280160"/>
            <a:ext cx="5212080" cy="384048"/>
          </a:xfrm>
          <a:prstGeom prst="rect">
            <a:avLst/>
          </a:prstGeom>
          <a:noFill/>
        </p:spPr>
        <p:txBody>
          <a:bodyPr wrap="square" anchor="ctr" tIns="0" bIns="0" lIns="25400" rIns="2540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400" b="1">
                <a:solidFill>
                  <a:srgbClr val="4FC17A"/>
                </a:solidFill>
                <a:latin typeface="Microsoft JhengHei"/>
              </a:rPr>
              <a:t>🌐 有網路的電腦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1828800"/>
            <a:ext cx="5120640" cy="2468880"/>
          </a:xfrm>
          <a:prstGeom prst="rect">
            <a:avLst/>
          </a:prstGeom>
          <a:noFill/>
        </p:spPr>
        <p:txBody>
          <a:bodyPr wrap="square" anchor="t" tIns="0" bIns="0" lIns="25400" r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Microsoft JhengHei"/>
              </a:rPr>
              <a:t>唯一任務：下載打包套件（產生 wheels）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600" b="0">
                <a:solidFill>
                  <a:srgbClr val="8A93A1"/>
                </a:solidFill>
                <a:latin typeface="Microsoft JhengHei"/>
              </a:rPr>
              <a:t/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00" b="0">
                <a:solidFill>
                  <a:srgbClr val="4FC17A"/>
                </a:solidFill>
                <a:latin typeface="Microsoft JhengHei"/>
              </a:rPr>
              <a:t>指令開頭：pip download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00" b="0">
                <a:solidFill>
                  <a:srgbClr val="C9CFD8"/>
                </a:solidFill>
                <a:latin typeface="Microsoft JhengHei"/>
              </a:rPr>
              <a:t>把套件從網路抓下來，存成一包 .whl 檔，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00" b="0">
                <a:solidFill>
                  <a:srgbClr val="C9CFD8"/>
                </a:solidFill>
                <a:latin typeface="Microsoft JhengHei"/>
              </a:rPr>
              <a:t>再用 USB 搬到部署機。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600" b="0">
                <a:solidFill>
                  <a:srgbClr val="8A93A1"/>
                </a:solidFill>
                <a:latin typeface="Microsoft JhengHei"/>
              </a:rPr>
              <a:t/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150" b="0">
                <a:solidFill>
                  <a:srgbClr val="E7B43C"/>
                </a:solidFill>
                <a:latin typeface="Microsoft JhengHei"/>
              </a:rPr>
              <a:t>公司內網要過 Proxy → 指令加 --proxy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45352" y="1280160"/>
            <a:ext cx="5486400" cy="3108960"/>
          </a:xfrm>
          <a:prstGeom prst="rect">
            <a:avLst/>
          </a:prstGeom>
          <a:solidFill>
            <a:srgbClr val="1B1F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245352" y="1280160"/>
            <a:ext cx="5486400" cy="384048"/>
          </a:xfrm>
          <a:prstGeom prst="rect">
            <a:avLst/>
          </a:prstGeom>
          <a:solidFill>
            <a:srgbClr val="2A2F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45352" y="1280160"/>
            <a:ext cx="76200" cy="384048"/>
          </a:xfrm>
          <a:prstGeom prst="rect">
            <a:avLst/>
          </a:prstGeom>
          <a:solidFill>
            <a:srgbClr val="35D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28232" y="1280160"/>
            <a:ext cx="5212080" cy="384048"/>
          </a:xfrm>
          <a:prstGeom prst="rect">
            <a:avLst/>
          </a:prstGeom>
          <a:noFill/>
        </p:spPr>
        <p:txBody>
          <a:bodyPr wrap="square" anchor="ctr" tIns="0" bIns="0" lIns="25400" rIns="2540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400" b="1">
                <a:solidFill>
                  <a:srgbClr val="35D0E6"/>
                </a:solidFill>
                <a:latin typeface="Microsoft JhengHei"/>
              </a:rPr>
              <a:t>💻 部署機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28232" y="1828800"/>
            <a:ext cx="5120640" cy="2468880"/>
          </a:xfrm>
          <a:prstGeom prst="rect">
            <a:avLst/>
          </a:prstGeom>
          <a:noFill/>
        </p:spPr>
        <p:txBody>
          <a:bodyPr wrap="square" anchor="t" tIns="0" bIns="0" lIns="25400" r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Microsoft JhengHei"/>
              </a:rPr>
              <a:t>其他全部都在這裡做：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600" b="0">
                <a:solidFill>
                  <a:srgbClr val="8A93A1"/>
                </a:solidFill>
                <a:latin typeface="Microsoft JhengHei"/>
              </a:rPr>
              <a:t/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00" b="0">
                <a:solidFill>
                  <a:srgbClr val="C9CFD8"/>
                </a:solidFill>
                <a:latin typeface="Microsoft JhengHei"/>
              </a:rPr>
              <a:t>‧ 裝 IIS / HttpPlatformHandler / Python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00" b="0">
                <a:solidFill>
                  <a:srgbClr val="C9CFD8"/>
                </a:solidFill>
                <a:latin typeface="Microsoft JhengHei"/>
              </a:rPr>
              <a:t>‧ 建 venv、離線安裝套件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00" b="0">
                <a:solidFill>
                  <a:srgbClr val="C9CFD8"/>
                </a:solidFill>
                <a:latin typeface="Microsoft JhengHei"/>
              </a:rPr>
              <a:t>‧ 寫 wsgi.py / web.config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00" b="0">
                <a:solidFill>
                  <a:srgbClr val="C9CFD8"/>
                </a:solidFill>
                <a:latin typeface="Microsoft JhengHei"/>
              </a:rPr>
              <a:t>‧ 建 IIS 網站、設驗證與權限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00" b="0">
                <a:solidFill>
                  <a:srgbClr val="C9CFD8"/>
                </a:solidFill>
                <a:latin typeface="Microsoft JhengHei"/>
              </a:rPr>
              <a:t>‧ 上線測試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4663440"/>
            <a:ext cx="11274552" cy="1554480"/>
          </a:xfrm>
          <a:prstGeom prst="rect">
            <a:avLst/>
          </a:prstGeom>
          <a:solidFill>
            <a:srgbClr val="1B1F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57200" y="4663440"/>
            <a:ext cx="101600" cy="1554480"/>
          </a:xfrm>
          <a:prstGeom prst="rect">
            <a:avLst/>
          </a:prstGeom>
          <a:solidFill>
            <a:srgbClr val="E7B4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31520" y="4800600"/>
            <a:ext cx="10972800" cy="457200"/>
          </a:xfrm>
          <a:prstGeom prst="rect">
            <a:avLst/>
          </a:prstGeom>
          <a:noFill/>
        </p:spPr>
        <p:txBody>
          <a:bodyPr wrap="square" anchor="t" tIns="0" bIns="0" lIns="25400" rIns="2540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500" b="1">
                <a:solidFill>
                  <a:srgbClr val="E7B43C"/>
                </a:solidFill>
                <a:latin typeface="Microsoft JhengHei"/>
              </a:rPr>
              <a:t>口訣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5212080"/>
            <a:ext cx="10789920" cy="914400"/>
          </a:xfrm>
          <a:prstGeom prst="rect">
            <a:avLst/>
          </a:prstGeom>
          <a:noFill/>
        </p:spPr>
        <p:txBody>
          <a:bodyPr wrap="square" anchor="ctr" tIns="0" bIns="0" lIns="25400" rIns="2540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2000" b="1">
                <a:solidFill>
                  <a:srgbClr val="FFFFFF"/>
                </a:solidFill>
                <a:latin typeface="Microsoft JhengHei"/>
              </a:rPr>
              <a:t>只有「下載 wheels」要去有網路的電腦，剩下全部都在部署機。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12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960120"/>
          </a:xfrm>
          <a:prstGeom prst="rect">
            <a:avLst/>
          </a:prstGeom>
          <a:solidFill>
            <a:srgbClr val="35D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28016"/>
            <a:ext cx="10058400" cy="292608"/>
          </a:xfrm>
          <a:prstGeom prst="rect">
            <a:avLst/>
          </a:prstGeom>
          <a:noFill/>
        </p:spPr>
        <p:txBody>
          <a:bodyPr wrap="square" anchor="t" tIns="0" bIns="0" lIns="25400" rIns="2540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35D0E6"/>
                </a:solidFill>
                <a:latin typeface="Microsoft JhengHei"/>
              </a:rPr>
              <a:t>PREP ‧ 事前準備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84048"/>
            <a:ext cx="10241280" cy="548640"/>
          </a:xfrm>
          <a:prstGeom prst="rect">
            <a:avLst/>
          </a:prstGeom>
          <a:noFill/>
        </p:spPr>
        <p:txBody>
          <a:bodyPr wrap="square" anchor="t" tIns="0" bIns="0" lIns="25400" rIns="2540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2600" b="1">
                <a:solidFill>
                  <a:srgbClr val="FFFFFF"/>
                </a:solidFill>
                <a:latin typeface="Microsoft JhengHei"/>
              </a:rPr>
              <a:t>開始前先把這些備齊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98480" y="274320"/>
            <a:ext cx="1188720" cy="457200"/>
          </a:xfrm>
          <a:prstGeom prst="rect">
            <a:avLst/>
          </a:prstGeom>
          <a:noFill/>
        </p:spPr>
        <p:txBody>
          <a:bodyPr wrap="square" anchor="t" tIns="0" bIns="0" lIns="25400" rIns="25400">
            <a:spAutoFit/>
          </a:bodyPr>
          <a:lstStyle/>
          <a:p>
            <a:pPr algn="r"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8A93A1"/>
                </a:solidFill>
                <a:latin typeface="Microsoft JhengHei"/>
              </a:rPr>
              <a:t>PAGE 04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987552"/>
            <a:ext cx="11274552" cy="25400"/>
          </a:xfrm>
          <a:prstGeom prst="rect">
            <a:avLst/>
          </a:prstGeom>
          <a:solidFill>
            <a:srgbClr val="2A2F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280160"/>
            <a:ext cx="5577840" cy="2286000"/>
          </a:xfrm>
          <a:prstGeom prst="rect">
            <a:avLst/>
          </a:prstGeom>
          <a:solidFill>
            <a:srgbClr val="1B1F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1280160"/>
            <a:ext cx="5577840" cy="384048"/>
          </a:xfrm>
          <a:prstGeom prst="rect">
            <a:avLst/>
          </a:prstGeom>
          <a:solidFill>
            <a:srgbClr val="2A2F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1280160"/>
            <a:ext cx="76200" cy="384048"/>
          </a:xfrm>
          <a:prstGeom prst="rect">
            <a:avLst/>
          </a:prstGeom>
          <a:solidFill>
            <a:srgbClr val="3E8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1280160"/>
            <a:ext cx="5303520" cy="384048"/>
          </a:xfrm>
          <a:prstGeom prst="rect">
            <a:avLst/>
          </a:prstGeom>
          <a:noFill/>
        </p:spPr>
        <p:txBody>
          <a:bodyPr wrap="square" anchor="ctr" tIns="0" bIns="0" lIns="25400" rIns="2540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400" b="1">
                <a:solidFill>
                  <a:srgbClr val="3E8FD6"/>
                </a:solidFill>
                <a:latin typeface="Microsoft JhengHei"/>
              </a:rPr>
              <a:t>跟 IT / AD 管理員要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1828800"/>
            <a:ext cx="5212080" cy="1737360"/>
          </a:xfrm>
          <a:prstGeom prst="rect">
            <a:avLst/>
          </a:prstGeom>
          <a:noFill/>
        </p:spPr>
        <p:txBody>
          <a:bodyPr wrap="square" anchor="t" tIns="0" bIns="0" lIns="25400" rIns="25400">
            <a:spAutoFit/>
          </a:bodyPr>
          <a:lstStyle/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sz="1250" b="0">
                <a:solidFill>
                  <a:srgbClr val="C9CFD8"/>
                </a:solidFill>
                <a:latin typeface="Microsoft JhengHei"/>
              </a:rPr>
              <a:t>‧ AD 短名 / 完整網域 / BaseDN</a:t>
            </a:r>
          </a:p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sz="1050" b="0">
                <a:solidFill>
                  <a:srgbClr val="8A93A1"/>
                </a:solidFill>
                <a:latin typeface="Microsoft JhengHei"/>
              </a:rPr>
              <a:t>  例：KH ‧ kh.asegroup.com ‧ DC=kh,DC=asegroup,DC=com</a:t>
            </a:r>
          </a:p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sz="1250" b="0">
                <a:solidFill>
                  <a:srgbClr val="C9CFD8"/>
                </a:solidFill>
                <a:latin typeface="Microsoft JhengHei"/>
              </a:rPr>
              <a:t>‧ 登入格式（網域\工號 或 UPN）</a:t>
            </a:r>
          </a:p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sz="1250" b="0">
                <a:solidFill>
                  <a:srgbClr val="E7B43C"/>
                </a:solidFill>
                <a:latin typeface="Microsoft JhengHei"/>
              </a:rPr>
              <a:t>‧ ★ 對外上網的 Proxy 位址 + Port</a:t>
            </a:r>
          </a:p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sz="1050" b="0">
                <a:solidFill>
                  <a:srgbClr val="8A93A1"/>
                </a:solidFill>
                <a:latin typeface="Microsoft JhengHei"/>
              </a:rPr>
              <a:t>  （下載 wheels 會用到，內網幾乎都有）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45352" y="1280160"/>
            <a:ext cx="5486400" cy="2286000"/>
          </a:xfrm>
          <a:prstGeom prst="rect">
            <a:avLst/>
          </a:prstGeom>
          <a:solidFill>
            <a:srgbClr val="1B1F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245352" y="1280160"/>
            <a:ext cx="5486400" cy="384048"/>
          </a:xfrm>
          <a:prstGeom prst="rect">
            <a:avLst/>
          </a:prstGeom>
          <a:solidFill>
            <a:srgbClr val="2A2F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45352" y="1280160"/>
            <a:ext cx="76200" cy="384048"/>
          </a:xfrm>
          <a:prstGeom prst="rect">
            <a:avLst/>
          </a:prstGeom>
          <a:solidFill>
            <a:srgbClr val="35D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28232" y="1280160"/>
            <a:ext cx="5212080" cy="384048"/>
          </a:xfrm>
          <a:prstGeom prst="rect">
            <a:avLst/>
          </a:prstGeom>
          <a:noFill/>
        </p:spPr>
        <p:txBody>
          <a:bodyPr wrap="square" anchor="ctr" tIns="0" bIns="0" lIns="25400" rIns="2540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400" b="1">
                <a:solidFill>
                  <a:srgbClr val="35D0E6"/>
                </a:solidFill>
                <a:latin typeface="Microsoft JhengHei"/>
              </a:rPr>
              <a:t>要下載的三個東西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28232" y="1828800"/>
            <a:ext cx="5120640" cy="1737360"/>
          </a:xfrm>
          <a:prstGeom prst="rect">
            <a:avLst/>
          </a:prstGeom>
          <a:noFill/>
        </p:spPr>
        <p:txBody>
          <a:bodyPr wrap="square" anchor="t" tIns="0" bIns="0" lIns="25400" rIns="25400">
            <a:spAutoFit/>
          </a:bodyPr>
          <a:lstStyle/>
          <a:p>
            <a:pPr algn="l">
              <a:spcBef>
                <a:spcPts val="0"/>
              </a:spcBef>
              <a:spcAft>
                <a:spcPts val="900"/>
              </a:spcAft>
            </a:pPr>
            <a:r>
              <a:rPr sz="1250" b="0">
                <a:solidFill>
                  <a:srgbClr val="C9CFD8"/>
                </a:solidFill>
                <a:latin typeface="Microsoft JhengHei"/>
              </a:rPr>
              <a:t>① Python 安裝檔（python.org，64-bit）</a:t>
            </a:r>
          </a:p>
          <a:p>
            <a:pPr algn="l">
              <a:spcBef>
                <a:spcPts val="0"/>
              </a:spcBef>
              <a:spcAft>
                <a:spcPts val="900"/>
              </a:spcAft>
            </a:pPr>
            <a:r>
              <a:rPr sz="1250" b="0">
                <a:solidFill>
                  <a:srgbClr val="C9CFD8"/>
                </a:solidFill>
                <a:latin typeface="Microsoft JhengHei"/>
              </a:rPr>
              <a:t>② HttpPlatformHandler v2.0 MSI（iis.net）</a:t>
            </a:r>
          </a:p>
          <a:p>
            <a:pPr algn="l">
              <a:spcBef>
                <a:spcPts val="0"/>
              </a:spcBef>
              <a:spcAft>
                <a:spcPts val="900"/>
              </a:spcAft>
            </a:pPr>
            <a:r>
              <a:rPr sz="1050" b="0">
                <a:solidFill>
                  <a:srgbClr val="8A93A1"/>
                </a:solidFill>
                <a:latin typeface="Microsoft JhengHei"/>
              </a:rPr>
              <a:t>    IIS 不內建，要單獨裝</a:t>
            </a:r>
          </a:p>
          <a:p>
            <a:pPr algn="l">
              <a:spcBef>
                <a:spcPts val="0"/>
              </a:spcBef>
              <a:spcAft>
                <a:spcPts val="900"/>
              </a:spcAft>
            </a:pPr>
            <a:r>
              <a:rPr sz="1250" b="0">
                <a:solidFill>
                  <a:srgbClr val="C9CFD8"/>
                </a:solidFill>
                <a:latin typeface="Microsoft JhengHei"/>
              </a:rPr>
              <a:t>③ 你的專案程式碼（含 requirements.txt）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3749039"/>
            <a:ext cx="11274552" cy="2468880"/>
          </a:xfrm>
          <a:prstGeom prst="rect">
            <a:avLst/>
          </a:prstGeom>
          <a:solidFill>
            <a:srgbClr val="1B1F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57200" y="3749039"/>
            <a:ext cx="11274552" cy="384048"/>
          </a:xfrm>
          <a:prstGeom prst="rect">
            <a:avLst/>
          </a:prstGeom>
          <a:solidFill>
            <a:srgbClr val="2A2F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57200" y="3749039"/>
            <a:ext cx="76200" cy="384048"/>
          </a:xfrm>
          <a:prstGeom prst="rect">
            <a:avLst/>
          </a:prstGeom>
          <a:solidFill>
            <a:srgbClr val="35D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" y="3749039"/>
            <a:ext cx="11000232" cy="384048"/>
          </a:xfrm>
          <a:prstGeom prst="rect">
            <a:avLst/>
          </a:prstGeom>
          <a:noFill/>
        </p:spPr>
        <p:txBody>
          <a:bodyPr wrap="square" anchor="ctr" tIns="0" bIns="0" lIns="25400" rIns="2540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400" b="1">
                <a:solidFill>
                  <a:srgbClr val="35D0E6"/>
                </a:solidFill>
                <a:latin typeface="Microsoft JhengHei"/>
              </a:rPr>
              <a:t>六大步驟總覽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40080" y="4297680"/>
            <a:ext cx="1755648" cy="1371600"/>
          </a:xfrm>
          <a:prstGeom prst="rect">
            <a:avLst/>
          </a:prstGeom>
          <a:solidFill>
            <a:srgbClr val="101216"/>
          </a:solidFill>
          <a:ln w="12700">
            <a:solidFill>
              <a:srgbClr val="2A2F3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40080" y="4297680"/>
            <a:ext cx="1755648" cy="76200"/>
          </a:xfrm>
          <a:prstGeom prst="rect">
            <a:avLst/>
          </a:prstGeom>
          <a:solidFill>
            <a:srgbClr val="35D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080" y="4480560"/>
            <a:ext cx="1755648" cy="457200"/>
          </a:xfrm>
          <a:prstGeom prst="rect">
            <a:avLst/>
          </a:prstGeom>
          <a:noFill/>
        </p:spPr>
        <p:txBody>
          <a:bodyPr wrap="square" anchor="t" tIns="0" bIns="0" lIns="25400" rIns="2540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35D0E6"/>
                </a:solidFill>
                <a:latin typeface="Microsoft JhengHei"/>
              </a:rPr>
              <a:t>STEP 1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4864608"/>
            <a:ext cx="1755648" cy="411480"/>
          </a:xfrm>
          <a:prstGeom prst="rect">
            <a:avLst/>
          </a:prstGeom>
          <a:noFill/>
        </p:spPr>
        <p:txBody>
          <a:bodyPr wrap="square" anchor="t" tIns="0" bIns="0" lIns="25400" rIns="2540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400" b="1">
                <a:solidFill>
                  <a:srgbClr val="FFFFFF"/>
                </a:solidFill>
                <a:latin typeface="Microsoft JhengHei"/>
              </a:rPr>
              <a:t>環境安裝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" y="5257800"/>
            <a:ext cx="1755648" cy="365760"/>
          </a:xfrm>
          <a:prstGeom prst="rect">
            <a:avLst/>
          </a:prstGeom>
          <a:noFill/>
        </p:spPr>
        <p:txBody>
          <a:bodyPr wrap="square" anchor="t" tIns="0" bIns="0" lIns="25400" rIns="2540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8A93A1"/>
                </a:solidFill>
                <a:latin typeface="Microsoft JhengHei"/>
              </a:rPr>
              <a:t>IIS+模組+Python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468880" y="4297680"/>
            <a:ext cx="1755648" cy="1371600"/>
          </a:xfrm>
          <a:prstGeom prst="rect">
            <a:avLst/>
          </a:prstGeom>
          <a:solidFill>
            <a:srgbClr val="101216"/>
          </a:solidFill>
          <a:ln w="12700">
            <a:solidFill>
              <a:srgbClr val="2A2F3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2468880" y="4297680"/>
            <a:ext cx="1755648" cy="76200"/>
          </a:xfrm>
          <a:prstGeom prst="rect">
            <a:avLst/>
          </a:prstGeom>
          <a:solidFill>
            <a:srgbClr val="35D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468880" y="4480560"/>
            <a:ext cx="1755648" cy="457200"/>
          </a:xfrm>
          <a:prstGeom prst="rect">
            <a:avLst/>
          </a:prstGeom>
          <a:noFill/>
        </p:spPr>
        <p:txBody>
          <a:bodyPr wrap="square" anchor="t" tIns="0" bIns="0" lIns="25400" rIns="2540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35D0E6"/>
                </a:solidFill>
                <a:latin typeface="Microsoft JhengHei"/>
              </a:rPr>
              <a:t>STEP 2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468880" y="4864608"/>
            <a:ext cx="1755648" cy="411480"/>
          </a:xfrm>
          <a:prstGeom prst="rect">
            <a:avLst/>
          </a:prstGeom>
          <a:noFill/>
        </p:spPr>
        <p:txBody>
          <a:bodyPr wrap="square" anchor="t" tIns="0" bIns="0" lIns="25400" rIns="2540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400" b="1">
                <a:solidFill>
                  <a:srgbClr val="FFFFFF"/>
                </a:solidFill>
                <a:latin typeface="Microsoft JhengHei"/>
              </a:rPr>
              <a:t>venv+套件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468880" y="5257800"/>
            <a:ext cx="1755648" cy="365760"/>
          </a:xfrm>
          <a:prstGeom prst="rect">
            <a:avLst/>
          </a:prstGeom>
          <a:noFill/>
        </p:spPr>
        <p:txBody>
          <a:bodyPr wrap="square" anchor="t" tIns="0" bIns="0" lIns="25400" rIns="2540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8A93A1"/>
                </a:solidFill>
                <a:latin typeface="Microsoft JhengHei"/>
              </a:rPr>
              <a:t>wheels 離線裝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297680" y="4297680"/>
            <a:ext cx="1755648" cy="1371600"/>
          </a:xfrm>
          <a:prstGeom prst="rect">
            <a:avLst/>
          </a:prstGeom>
          <a:solidFill>
            <a:srgbClr val="101216"/>
          </a:solidFill>
          <a:ln w="12700">
            <a:solidFill>
              <a:srgbClr val="2A2F3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4297680" y="4297680"/>
            <a:ext cx="1755648" cy="76200"/>
          </a:xfrm>
          <a:prstGeom prst="rect">
            <a:avLst/>
          </a:prstGeom>
          <a:solidFill>
            <a:srgbClr val="35D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297680" y="4480560"/>
            <a:ext cx="1755648" cy="457200"/>
          </a:xfrm>
          <a:prstGeom prst="rect">
            <a:avLst/>
          </a:prstGeom>
          <a:noFill/>
        </p:spPr>
        <p:txBody>
          <a:bodyPr wrap="square" anchor="t" tIns="0" bIns="0" lIns="25400" rIns="2540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35D0E6"/>
                </a:solidFill>
                <a:latin typeface="Microsoft JhengHei"/>
              </a:rPr>
              <a:t>STEP 3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297680" y="4864608"/>
            <a:ext cx="1755648" cy="411480"/>
          </a:xfrm>
          <a:prstGeom prst="rect">
            <a:avLst/>
          </a:prstGeom>
          <a:noFill/>
        </p:spPr>
        <p:txBody>
          <a:bodyPr wrap="square" anchor="t" tIns="0" bIns="0" lIns="25400" rIns="2540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400" b="1">
                <a:solidFill>
                  <a:srgbClr val="FFFFFF"/>
                </a:solidFill>
                <a:latin typeface="Microsoft JhengHei"/>
              </a:rPr>
              <a:t>設定檔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297680" y="5257800"/>
            <a:ext cx="1755648" cy="365760"/>
          </a:xfrm>
          <a:prstGeom prst="rect">
            <a:avLst/>
          </a:prstGeom>
          <a:noFill/>
        </p:spPr>
        <p:txBody>
          <a:bodyPr wrap="square" anchor="t" tIns="0" bIns="0" lIns="25400" rIns="2540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8A93A1"/>
                </a:solidFill>
                <a:latin typeface="Microsoft JhengHei"/>
              </a:rPr>
              <a:t>wsgi.py+web.config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126480" y="4297680"/>
            <a:ext cx="1755648" cy="1371600"/>
          </a:xfrm>
          <a:prstGeom prst="rect">
            <a:avLst/>
          </a:prstGeom>
          <a:solidFill>
            <a:srgbClr val="101216"/>
          </a:solidFill>
          <a:ln w="12700">
            <a:solidFill>
              <a:srgbClr val="2A2F3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6126480" y="4297680"/>
            <a:ext cx="1755648" cy="76200"/>
          </a:xfrm>
          <a:prstGeom prst="rect">
            <a:avLst/>
          </a:prstGeom>
          <a:solidFill>
            <a:srgbClr val="35D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126480" y="4480560"/>
            <a:ext cx="1755648" cy="457200"/>
          </a:xfrm>
          <a:prstGeom prst="rect">
            <a:avLst/>
          </a:prstGeom>
          <a:noFill/>
        </p:spPr>
        <p:txBody>
          <a:bodyPr wrap="square" anchor="t" tIns="0" bIns="0" lIns="25400" rIns="2540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35D0E6"/>
                </a:solidFill>
                <a:latin typeface="Microsoft JhengHei"/>
              </a:rPr>
              <a:t>STEP 4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126480" y="4864608"/>
            <a:ext cx="1755648" cy="411480"/>
          </a:xfrm>
          <a:prstGeom prst="rect">
            <a:avLst/>
          </a:prstGeom>
          <a:noFill/>
        </p:spPr>
        <p:txBody>
          <a:bodyPr wrap="square" anchor="t" tIns="0" bIns="0" lIns="25400" rIns="2540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400" b="1">
                <a:solidFill>
                  <a:srgbClr val="FFFFFF"/>
                </a:solidFill>
                <a:latin typeface="Microsoft JhengHei"/>
              </a:rPr>
              <a:t>IIS 網站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126480" y="5257800"/>
            <a:ext cx="1755648" cy="365760"/>
          </a:xfrm>
          <a:prstGeom prst="rect">
            <a:avLst/>
          </a:prstGeom>
          <a:noFill/>
        </p:spPr>
        <p:txBody>
          <a:bodyPr wrap="square" anchor="t" tIns="0" bIns="0" lIns="25400" rIns="2540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8A93A1"/>
                </a:solidFill>
                <a:latin typeface="Microsoft JhengHei"/>
              </a:rPr>
              <a:t>AppPool+驗證</a:t>
            </a:r>
          </a:p>
        </p:txBody>
      </p:sp>
      <p:sp>
        <p:nvSpPr>
          <p:cNvPr id="42" name="Rectangle 41"/>
          <p:cNvSpPr/>
          <p:nvPr/>
        </p:nvSpPr>
        <p:spPr>
          <a:xfrm>
            <a:off x="7955280" y="4297680"/>
            <a:ext cx="1755648" cy="1371600"/>
          </a:xfrm>
          <a:prstGeom prst="rect">
            <a:avLst/>
          </a:prstGeom>
          <a:solidFill>
            <a:srgbClr val="101216"/>
          </a:solidFill>
          <a:ln w="12700">
            <a:solidFill>
              <a:srgbClr val="2A2F3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7955280" y="4297680"/>
            <a:ext cx="1755648" cy="76200"/>
          </a:xfrm>
          <a:prstGeom prst="rect">
            <a:avLst/>
          </a:prstGeom>
          <a:solidFill>
            <a:srgbClr val="35D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7955280" y="4480560"/>
            <a:ext cx="1755648" cy="457200"/>
          </a:xfrm>
          <a:prstGeom prst="rect">
            <a:avLst/>
          </a:prstGeom>
          <a:noFill/>
        </p:spPr>
        <p:txBody>
          <a:bodyPr wrap="square" anchor="t" tIns="0" bIns="0" lIns="25400" rIns="2540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35D0E6"/>
                </a:solidFill>
                <a:latin typeface="Microsoft JhengHei"/>
              </a:rPr>
              <a:t>STEP 5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955280" y="4864608"/>
            <a:ext cx="1755648" cy="411480"/>
          </a:xfrm>
          <a:prstGeom prst="rect">
            <a:avLst/>
          </a:prstGeom>
          <a:noFill/>
        </p:spPr>
        <p:txBody>
          <a:bodyPr wrap="square" anchor="t" tIns="0" bIns="0" lIns="25400" rIns="2540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400" b="1">
                <a:solidFill>
                  <a:srgbClr val="FFFFFF"/>
                </a:solidFill>
                <a:latin typeface="Microsoft JhengHei"/>
              </a:rPr>
              <a:t>權限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955280" y="5257800"/>
            <a:ext cx="1755648" cy="365760"/>
          </a:xfrm>
          <a:prstGeom prst="rect">
            <a:avLst/>
          </a:prstGeom>
          <a:noFill/>
        </p:spPr>
        <p:txBody>
          <a:bodyPr wrap="square" anchor="t" tIns="0" bIns="0" lIns="25400" rIns="2540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8A93A1"/>
                </a:solidFill>
                <a:latin typeface="Microsoft JhengHei"/>
              </a:rPr>
              <a:t>icacls 授權</a:t>
            </a:r>
          </a:p>
        </p:txBody>
      </p:sp>
      <p:sp>
        <p:nvSpPr>
          <p:cNvPr id="47" name="Rectangle 46"/>
          <p:cNvSpPr/>
          <p:nvPr/>
        </p:nvSpPr>
        <p:spPr>
          <a:xfrm>
            <a:off x="9784080" y="4297680"/>
            <a:ext cx="1755648" cy="1371600"/>
          </a:xfrm>
          <a:prstGeom prst="rect">
            <a:avLst/>
          </a:prstGeom>
          <a:solidFill>
            <a:srgbClr val="101216"/>
          </a:solidFill>
          <a:ln w="12700">
            <a:solidFill>
              <a:srgbClr val="2A2F3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9784080" y="4297680"/>
            <a:ext cx="1755648" cy="76200"/>
          </a:xfrm>
          <a:prstGeom prst="rect">
            <a:avLst/>
          </a:prstGeom>
          <a:solidFill>
            <a:srgbClr val="35D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9784080" y="4480560"/>
            <a:ext cx="1755648" cy="457200"/>
          </a:xfrm>
          <a:prstGeom prst="rect">
            <a:avLst/>
          </a:prstGeom>
          <a:noFill/>
        </p:spPr>
        <p:txBody>
          <a:bodyPr wrap="square" anchor="t" tIns="0" bIns="0" lIns="25400" rIns="2540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35D0E6"/>
                </a:solidFill>
                <a:latin typeface="Microsoft JhengHei"/>
              </a:rPr>
              <a:t>STEP 6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784080" y="4864608"/>
            <a:ext cx="1755648" cy="411480"/>
          </a:xfrm>
          <a:prstGeom prst="rect">
            <a:avLst/>
          </a:prstGeom>
          <a:noFill/>
        </p:spPr>
        <p:txBody>
          <a:bodyPr wrap="square" anchor="t" tIns="0" bIns="0" lIns="25400" rIns="2540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400" b="1">
                <a:solidFill>
                  <a:srgbClr val="FFFFFF"/>
                </a:solidFill>
                <a:latin typeface="Microsoft JhengHei"/>
              </a:rPr>
              <a:t>上線測試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784080" y="5257800"/>
            <a:ext cx="1755648" cy="365760"/>
          </a:xfrm>
          <a:prstGeom prst="rect">
            <a:avLst/>
          </a:prstGeom>
          <a:noFill/>
        </p:spPr>
        <p:txBody>
          <a:bodyPr wrap="square" anchor="t" tIns="0" bIns="0" lIns="25400" rIns="2540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8A93A1"/>
                </a:solidFill>
                <a:latin typeface="Microsoft JhengHei"/>
              </a:rPr>
              <a:t>瀏覽器驗證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12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960120"/>
          </a:xfrm>
          <a:prstGeom prst="rect">
            <a:avLst/>
          </a:prstGeom>
          <a:solidFill>
            <a:srgbClr val="35D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28016"/>
            <a:ext cx="10058400" cy="292608"/>
          </a:xfrm>
          <a:prstGeom prst="rect">
            <a:avLst/>
          </a:prstGeom>
          <a:noFill/>
        </p:spPr>
        <p:txBody>
          <a:bodyPr wrap="square" anchor="t" tIns="0" bIns="0" lIns="25400" rIns="2540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35D0E6"/>
                </a:solidFill>
                <a:latin typeface="Microsoft JhengHei"/>
              </a:rPr>
              <a:t>STEP 1 ‧ 部署機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84048"/>
            <a:ext cx="10241280" cy="548640"/>
          </a:xfrm>
          <a:prstGeom prst="rect">
            <a:avLst/>
          </a:prstGeom>
          <a:noFill/>
        </p:spPr>
        <p:txBody>
          <a:bodyPr wrap="square" anchor="t" tIns="0" bIns="0" lIns="25400" rIns="2540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2600" b="1">
                <a:solidFill>
                  <a:srgbClr val="FFFFFF"/>
                </a:solidFill>
                <a:latin typeface="Microsoft JhengHei"/>
              </a:rPr>
              <a:t>安裝 IIS + 模組 + Python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98480" y="274320"/>
            <a:ext cx="1188720" cy="457200"/>
          </a:xfrm>
          <a:prstGeom prst="rect">
            <a:avLst/>
          </a:prstGeom>
          <a:noFill/>
        </p:spPr>
        <p:txBody>
          <a:bodyPr wrap="square" anchor="t" tIns="0" bIns="0" lIns="25400" rIns="25400">
            <a:spAutoFit/>
          </a:bodyPr>
          <a:lstStyle/>
          <a:p>
            <a:pPr algn="r"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8A93A1"/>
                </a:solidFill>
                <a:latin typeface="Microsoft JhengHei"/>
              </a:rPr>
              <a:t>PAGE 05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987552"/>
            <a:ext cx="11274552" cy="25400"/>
          </a:xfrm>
          <a:prstGeom prst="rect">
            <a:avLst/>
          </a:prstGeom>
          <a:solidFill>
            <a:srgbClr val="2A2F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280160"/>
            <a:ext cx="5577840" cy="2194560"/>
          </a:xfrm>
          <a:prstGeom prst="rect">
            <a:avLst/>
          </a:prstGeom>
          <a:solidFill>
            <a:srgbClr val="1B1F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1280160"/>
            <a:ext cx="5577840" cy="384048"/>
          </a:xfrm>
          <a:prstGeom prst="rect">
            <a:avLst/>
          </a:prstGeom>
          <a:solidFill>
            <a:srgbClr val="2A2F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1280160"/>
            <a:ext cx="76200" cy="384048"/>
          </a:xfrm>
          <a:prstGeom prst="rect">
            <a:avLst/>
          </a:prstGeom>
          <a:solidFill>
            <a:srgbClr val="35D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1280160"/>
            <a:ext cx="5303520" cy="384048"/>
          </a:xfrm>
          <a:prstGeom prst="rect">
            <a:avLst/>
          </a:prstGeom>
          <a:noFill/>
        </p:spPr>
        <p:txBody>
          <a:bodyPr wrap="square" anchor="ctr" tIns="0" bIns="0" lIns="25400" rIns="2540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400" b="1">
                <a:solidFill>
                  <a:srgbClr val="35D0E6"/>
                </a:solidFill>
                <a:latin typeface="Microsoft JhengHei"/>
              </a:rPr>
              <a:t>① 裝 IIS（含 Windows 驗證+CGI）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" y="1828800"/>
            <a:ext cx="5212080" cy="548640"/>
          </a:xfrm>
          <a:prstGeom prst="rect">
            <a:avLst/>
          </a:prstGeom>
          <a:solidFill>
            <a:srgbClr val="0C0E12"/>
          </a:solidFill>
          <a:ln w="12700">
            <a:solidFill>
              <a:srgbClr val="2A2F3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1920240"/>
            <a:ext cx="4937760" cy="365760"/>
          </a:xfrm>
          <a:prstGeom prst="rect">
            <a:avLst/>
          </a:prstGeom>
          <a:noFill/>
        </p:spPr>
        <p:txBody>
          <a:bodyPr wrap="square" anchor="ctr" tIns="0" bIns="0" lIns="25400" rIns="2540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9CDCFE"/>
                </a:solidFill>
                <a:latin typeface="Consolas"/>
              </a:rPr>
              <a:t>Install-WindowsFeature -Name Web-Server,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9CDCFE"/>
                </a:solidFill>
                <a:latin typeface="Consolas"/>
              </a:rPr>
              <a:t>  Web-Windows-Auth,Web-CGI -IncludeManagementTools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2606040"/>
            <a:ext cx="5212080" cy="822960"/>
          </a:xfrm>
          <a:prstGeom prst="rect">
            <a:avLst/>
          </a:prstGeom>
          <a:noFill/>
        </p:spPr>
        <p:txBody>
          <a:bodyPr wrap="square" anchor="t" tIns="0" bIns="0" lIns="25400" rIns="254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Microsoft JhengHei"/>
              </a:rPr>
              <a:t>② 裝 HttpPlatformHandler（點兩下 MSI）後驗證：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" y="2926080"/>
            <a:ext cx="5212080" cy="411480"/>
          </a:xfrm>
          <a:prstGeom prst="rect">
            <a:avLst/>
          </a:prstGeom>
          <a:solidFill>
            <a:srgbClr val="0C0E12"/>
          </a:solidFill>
          <a:ln w="12700">
            <a:solidFill>
              <a:srgbClr val="2A2F3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7240" y="3017520"/>
            <a:ext cx="4937760" cy="228600"/>
          </a:xfrm>
          <a:prstGeom prst="rect">
            <a:avLst/>
          </a:prstGeom>
          <a:noFill/>
        </p:spPr>
        <p:txBody>
          <a:bodyPr wrap="square" anchor="ctr" tIns="0" bIns="0" lIns="25400" rIns="2540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9CDCFE"/>
                </a:solidFill>
                <a:latin typeface="Consolas"/>
              </a:rPr>
              <a:t>Get-WebGlobalModule -Name "httpPlatformHandler"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245352" y="1280160"/>
            <a:ext cx="5486400" cy="2194560"/>
          </a:xfrm>
          <a:prstGeom prst="rect">
            <a:avLst/>
          </a:prstGeom>
          <a:solidFill>
            <a:srgbClr val="1B1F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45352" y="1280160"/>
            <a:ext cx="5486400" cy="384048"/>
          </a:xfrm>
          <a:prstGeom prst="rect">
            <a:avLst/>
          </a:prstGeom>
          <a:solidFill>
            <a:srgbClr val="2A2F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245352" y="1280160"/>
            <a:ext cx="76200" cy="384048"/>
          </a:xfrm>
          <a:prstGeom prst="rect">
            <a:avLst/>
          </a:prstGeom>
          <a:solidFill>
            <a:srgbClr val="E7B4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28232" y="1280160"/>
            <a:ext cx="5212080" cy="384048"/>
          </a:xfrm>
          <a:prstGeom prst="rect">
            <a:avLst/>
          </a:prstGeom>
          <a:noFill/>
        </p:spPr>
        <p:txBody>
          <a:bodyPr wrap="square" anchor="ctr" tIns="0" bIns="0" lIns="25400" rIns="2540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400" b="1">
                <a:solidFill>
                  <a:srgbClr val="E7B43C"/>
                </a:solidFill>
                <a:latin typeface="Microsoft JhengHei"/>
              </a:rPr>
              <a:t>③ 裝 Python（務必勾選）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28232" y="1828800"/>
            <a:ext cx="5120640" cy="1554480"/>
          </a:xfrm>
          <a:prstGeom prst="rect">
            <a:avLst/>
          </a:prstGeom>
          <a:noFill/>
        </p:spPr>
        <p:txBody>
          <a:bodyPr wrap="square" anchor="t" tIns="0" bIns="0" lIns="25400" r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Microsoft JhengHei"/>
              </a:rPr>
              <a:t>☑ Install for all users  （必勾！）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050" b="0">
                <a:solidFill>
                  <a:srgbClr val="8A93A1"/>
                </a:solidFill>
                <a:latin typeface="Microsoft JhengHei"/>
              </a:rPr>
              <a:t>    不勾 → 裝到 AppData → 整套失敗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Microsoft JhengHei"/>
              </a:rPr>
              <a:t>☑ Add Python to PATH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600" b="0">
                <a:solidFill>
                  <a:srgbClr val="8A93A1"/>
                </a:solidFill>
                <a:latin typeface="Microsoft JhengHei"/>
              </a:rPr>
              <a:t/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150" b="0">
                <a:solidFill>
                  <a:srgbClr val="4FC17A"/>
                </a:solidFill>
                <a:latin typeface="Microsoft JhengHei"/>
              </a:rPr>
              <a:t>驗證裝對位置：where.exe python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050" b="0">
                <a:solidFill>
                  <a:srgbClr val="8A93A1"/>
                </a:solidFill>
                <a:latin typeface="Microsoft JhengHei"/>
              </a:rPr>
              <a:t>要在 Program Files，不在 AppData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7200" y="3657600"/>
            <a:ext cx="11274552" cy="2560320"/>
          </a:xfrm>
          <a:prstGeom prst="rect">
            <a:avLst/>
          </a:prstGeom>
          <a:solidFill>
            <a:srgbClr val="1B1F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57200" y="3657600"/>
            <a:ext cx="101600" cy="2560320"/>
          </a:xfrm>
          <a:prstGeom prst="rect">
            <a:avLst/>
          </a:prstGeom>
          <a:solidFill>
            <a:srgbClr val="E06C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31520" y="3794760"/>
            <a:ext cx="10972800" cy="365760"/>
          </a:xfrm>
          <a:prstGeom prst="rect">
            <a:avLst/>
          </a:prstGeom>
          <a:noFill/>
        </p:spPr>
        <p:txBody>
          <a:bodyPr wrap="square" anchor="t" tIns="0" bIns="0" lIns="25400" rIns="2540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500" b="1">
                <a:solidFill>
                  <a:srgbClr val="E06C6C"/>
                </a:solidFill>
                <a:latin typeface="Microsoft JhengHei"/>
              </a:rPr>
              <a:t>⚠ 關鍵檢查點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1520" y="4251960"/>
            <a:ext cx="10972800" cy="1828800"/>
          </a:xfrm>
          <a:prstGeom prst="rect">
            <a:avLst/>
          </a:prstGeom>
          <a:noFill/>
        </p:spPr>
        <p:txBody>
          <a:bodyPr wrap="square" anchor="t" tIns="0" bIns="0" lIns="25400" rIns="25400">
            <a:spAutoFit/>
          </a:bodyPr>
          <a:lstStyle/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300" b="0">
                <a:solidFill>
                  <a:srgbClr val="C9CFD8"/>
                </a:solidFill>
                <a:latin typeface="Microsoft JhengHei"/>
              </a:rPr>
              <a:t>‧ HttpPlatformHandler 驗證指令「有輸出」才算裝成功。沒輸出 → 重裝 MSI。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100" b="0">
                <a:solidFill>
                  <a:srgbClr val="8A93A1"/>
                </a:solidFill>
                <a:latin typeface="Microsoft JhengHei"/>
              </a:rPr>
              <a:t>   （這步沒做好，最後上線會出現 500.19 錯誤，超難找）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300" b="0">
                <a:solidFill>
                  <a:srgbClr val="C9CFD8"/>
                </a:solidFill>
                <a:latin typeface="Microsoft JhengHei"/>
              </a:rPr>
              <a:t>‧ Python 一定要勾「Install for all users」，否則 where.exe python 會指到 AppData。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300" b="0">
                <a:solidFill>
                  <a:srgbClr val="C9CFD8"/>
                </a:solidFill>
                <a:latin typeface="Microsoft JhengHei"/>
              </a:rPr>
              <a:t>‧ 安裝完記得重啟，IIS 功能才會生效。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12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960120"/>
          </a:xfrm>
          <a:prstGeom prst="rect">
            <a:avLst/>
          </a:prstGeom>
          <a:solidFill>
            <a:srgbClr val="35D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28016"/>
            <a:ext cx="10058400" cy="292608"/>
          </a:xfrm>
          <a:prstGeom prst="rect">
            <a:avLst/>
          </a:prstGeom>
          <a:noFill/>
        </p:spPr>
        <p:txBody>
          <a:bodyPr wrap="square" anchor="t" tIns="0" bIns="0" lIns="25400" rIns="2540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35D0E6"/>
                </a:solidFill>
                <a:latin typeface="Microsoft JhengHei"/>
              </a:rPr>
              <a:t>STEP 2 ‧ 套件安裝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84048"/>
            <a:ext cx="10241280" cy="548640"/>
          </a:xfrm>
          <a:prstGeom prst="rect">
            <a:avLst/>
          </a:prstGeom>
          <a:noFill/>
        </p:spPr>
        <p:txBody>
          <a:bodyPr wrap="square" anchor="t" tIns="0" bIns="0" lIns="25400" rIns="2540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2600" b="1">
                <a:solidFill>
                  <a:srgbClr val="FFFFFF"/>
                </a:solidFill>
                <a:latin typeface="Microsoft JhengHei"/>
              </a:rPr>
              <a:t>wheels 打包 + venv 離線安裝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98480" y="274320"/>
            <a:ext cx="1188720" cy="457200"/>
          </a:xfrm>
          <a:prstGeom prst="rect">
            <a:avLst/>
          </a:prstGeom>
          <a:noFill/>
        </p:spPr>
        <p:txBody>
          <a:bodyPr wrap="square" anchor="t" tIns="0" bIns="0" lIns="25400" rIns="25400">
            <a:spAutoFit/>
          </a:bodyPr>
          <a:lstStyle/>
          <a:p>
            <a:pPr algn="r"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8A93A1"/>
                </a:solidFill>
                <a:latin typeface="Microsoft JhengHei"/>
              </a:rPr>
              <a:t>PAGE 06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987552"/>
            <a:ext cx="11274552" cy="25400"/>
          </a:xfrm>
          <a:prstGeom prst="rect">
            <a:avLst/>
          </a:prstGeom>
          <a:solidFill>
            <a:srgbClr val="2A2F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280160"/>
            <a:ext cx="5577840" cy="2651760"/>
          </a:xfrm>
          <a:prstGeom prst="rect">
            <a:avLst/>
          </a:prstGeom>
          <a:solidFill>
            <a:srgbClr val="1B1F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1280160"/>
            <a:ext cx="5577840" cy="384048"/>
          </a:xfrm>
          <a:prstGeom prst="rect">
            <a:avLst/>
          </a:prstGeom>
          <a:solidFill>
            <a:srgbClr val="2A2F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1280160"/>
            <a:ext cx="76200" cy="384048"/>
          </a:xfrm>
          <a:prstGeom prst="rect">
            <a:avLst/>
          </a:prstGeom>
          <a:solidFill>
            <a:srgbClr val="4FC1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1280160"/>
            <a:ext cx="5303520" cy="384048"/>
          </a:xfrm>
          <a:prstGeom prst="rect">
            <a:avLst/>
          </a:prstGeom>
          <a:noFill/>
        </p:spPr>
        <p:txBody>
          <a:bodyPr wrap="square" anchor="ctr" tIns="0" bIns="0" lIns="25400" rIns="2540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400" b="1">
                <a:solidFill>
                  <a:srgbClr val="4FC17A"/>
                </a:solidFill>
                <a:latin typeface="Microsoft JhengHei"/>
              </a:rPr>
              <a:t>在「有網路電腦」打包 wheels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" y="1828800"/>
            <a:ext cx="5212080" cy="914400"/>
          </a:xfrm>
          <a:prstGeom prst="rect">
            <a:avLst/>
          </a:prstGeom>
          <a:solidFill>
            <a:srgbClr val="0C0E12"/>
          </a:solidFill>
          <a:ln w="12700">
            <a:solidFill>
              <a:srgbClr val="2A2F3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1920240"/>
            <a:ext cx="4937760" cy="731520"/>
          </a:xfrm>
          <a:prstGeom prst="rect">
            <a:avLst/>
          </a:prstGeom>
          <a:noFill/>
        </p:spPr>
        <p:txBody>
          <a:bodyPr wrap="square" anchor="ctr" tIns="0" bIns="0" lIns="25400" rIns="2540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9CDCFE"/>
                </a:solidFill>
                <a:latin typeface="Consolas"/>
              </a:rPr>
              <a:t>pip download -r requirements.txt -d wheels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9CDCFE"/>
                </a:solidFill>
                <a:latin typeface="Consolas"/>
              </a:rPr>
              <a:t>  --platform win_amd64 --python-version 3.14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9CDCFE"/>
                </a:solidFill>
                <a:latin typeface="Consolas"/>
              </a:rPr>
              <a:t>  --only-binary=:all: --proxy "http://..."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2834640"/>
            <a:ext cx="5212080" cy="1005840"/>
          </a:xfrm>
          <a:prstGeom prst="rect">
            <a:avLst/>
          </a:prstGeom>
          <a:noFill/>
        </p:spPr>
        <p:txBody>
          <a:bodyPr wrap="square" anchor="t" tIns="0" bIns="0" lIns="25400" r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00" b="0">
                <a:solidFill>
                  <a:srgbClr val="C9CFD8"/>
                </a:solidFill>
                <a:latin typeface="Microsoft JhengHei"/>
              </a:rPr>
              <a:t>‧ --python-version 對齊「部署機」版本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00" b="0">
                <a:solidFill>
                  <a:srgbClr val="C9CFD8"/>
                </a:solidFill>
                <a:latin typeface="Microsoft JhengHei"/>
              </a:rPr>
              <a:t>‧ 407 錯誤 → 加 --proxy（位址問 IT）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00" b="0">
                <a:solidFill>
                  <a:srgbClr val="E7B43C"/>
                </a:solidFill>
                <a:latin typeface="Microsoft JhengHei"/>
              </a:rPr>
              <a:t>‧ requirements.txt 別漏 waitress / pywin32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45352" y="1280160"/>
            <a:ext cx="5486400" cy="2651760"/>
          </a:xfrm>
          <a:prstGeom prst="rect">
            <a:avLst/>
          </a:prstGeom>
          <a:solidFill>
            <a:srgbClr val="1B1F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245352" y="1280160"/>
            <a:ext cx="5486400" cy="384048"/>
          </a:xfrm>
          <a:prstGeom prst="rect">
            <a:avLst/>
          </a:prstGeom>
          <a:solidFill>
            <a:srgbClr val="2A2F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45352" y="1280160"/>
            <a:ext cx="76200" cy="384048"/>
          </a:xfrm>
          <a:prstGeom prst="rect">
            <a:avLst/>
          </a:prstGeom>
          <a:solidFill>
            <a:srgbClr val="35D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28232" y="1280160"/>
            <a:ext cx="5212080" cy="384048"/>
          </a:xfrm>
          <a:prstGeom prst="rect">
            <a:avLst/>
          </a:prstGeom>
          <a:noFill/>
        </p:spPr>
        <p:txBody>
          <a:bodyPr wrap="square" anchor="ctr" tIns="0" bIns="0" lIns="25400" rIns="2540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400" b="1">
                <a:solidFill>
                  <a:srgbClr val="35D0E6"/>
                </a:solidFill>
                <a:latin typeface="Microsoft JhengHei"/>
              </a:rPr>
              <a:t>搬到部署機，建 venv 離線裝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28232" y="1828800"/>
            <a:ext cx="5120640" cy="1188720"/>
          </a:xfrm>
          <a:prstGeom prst="rect">
            <a:avLst/>
          </a:prstGeom>
          <a:solidFill>
            <a:srgbClr val="0C0E12"/>
          </a:solidFill>
          <a:ln w="12700">
            <a:solidFill>
              <a:srgbClr val="2A2F3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65392" y="1920240"/>
            <a:ext cx="4846320" cy="1005840"/>
          </a:xfrm>
          <a:prstGeom prst="rect">
            <a:avLst/>
          </a:prstGeom>
          <a:noFill/>
        </p:spPr>
        <p:txBody>
          <a:bodyPr wrap="square" anchor="ctr" tIns="0" bIns="0" lIns="25400" rIns="2540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9CDCFE"/>
                </a:solidFill>
                <a:latin typeface="Consolas"/>
              </a:rPr>
              <a:t>cd "D:\Web Service\budgetagent"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9CDCFE"/>
                </a:solidFill>
                <a:latin typeface="Consolas"/>
              </a:rPr>
              <a:t>python -m venv venv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9CDCFE"/>
                </a:solidFill>
                <a:latin typeface="Consolas"/>
              </a:rPr>
              <a:t>.\venv\Scripts\pip install --no-index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9CDCFE"/>
                </a:solidFill>
                <a:latin typeface="Consolas"/>
              </a:rPr>
              <a:t>  --find-links=wheels -r requirements.txt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28232" y="3108960"/>
            <a:ext cx="5120640" cy="731520"/>
          </a:xfrm>
          <a:prstGeom prst="rect">
            <a:avLst/>
          </a:prstGeom>
          <a:noFill/>
        </p:spPr>
        <p:txBody>
          <a:bodyPr wrap="square" anchor="t" tIns="0" bIns="0" lIns="25400" r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00" b="0">
                <a:solidFill>
                  <a:srgbClr val="C9CFD8"/>
                </a:solidFill>
                <a:latin typeface="Microsoft JhengHei"/>
              </a:rPr>
              <a:t>‧ venv 必須在部署機重建，不可複製！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00" b="0">
                <a:solidFill>
                  <a:srgbClr val="C9CFD8"/>
                </a:solidFill>
                <a:latin typeface="Microsoft JhengHei"/>
              </a:rPr>
              <a:t>‧ 裝完確認 venv\Scripts\waitress-serve.exe 存在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7200" y="4114800"/>
            <a:ext cx="11274552" cy="2103120"/>
          </a:xfrm>
          <a:prstGeom prst="rect">
            <a:avLst/>
          </a:prstGeom>
          <a:solidFill>
            <a:srgbClr val="1B1F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57200" y="4114800"/>
            <a:ext cx="101600" cy="2103120"/>
          </a:xfrm>
          <a:prstGeom prst="rect">
            <a:avLst/>
          </a:prstGeom>
          <a:solidFill>
            <a:srgbClr val="E06C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31520" y="4251960"/>
            <a:ext cx="10972800" cy="365760"/>
          </a:xfrm>
          <a:prstGeom prst="rect">
            <a:avLst/>
          </a:prstGeom>
          <a:noFill/>
        </p:spPr>
        <p:txBody>
          <a:bodyPr wrap="square" anchor="t" tIns="0" bIns="0" lIns="25400" rIns="2540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500" b="1">
                <a:solidFill>
                  <a:srgbClr val="E06C6C"/>
                </a:solidFill>
                <a:latin typeface="Microsoft JhengHei"/>
              </a:rPr>
              <a:t>⚠ 三個最常見的坑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1520" y="4709160"/>
            <a:ext cx="10972800" cy="1463040"/>
          </a:xfrm>
          <a:prstGeom prst="rect">
            <a:avLst/>
          </a:prstGeom>
          <a:noFill/>
        </p:spPr>
        <p:txBody>
          <a:bodyPr wrap="square" anchor="t" tIns="0" bIns="0" lIns="25400" rIns="25400">
            <a:spAutoFit/>
          </a:bodyPr>
          <a:lstStyle/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250" b="0">
                <a:solidFill>
                  <a:srgbClr val="C9CFD8"/>
                </a:solidFill>
                <a:latin typeface="Microsoft JhengHei"/>
              </a:rPr>
              <a:t>‧ wheels 是空的：手動建空資料夾沒用，要真的跑 pip download 把它裝滿。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250" b="0">
                <a:solidFill>
                  <a:srgbClr val="C9CFD8"/>
                </a:solidFill>
                <a:latin typeface="Microsoft JhengHei"/>
              </a:rPr>
              <a:t>‧ 版本對不上：venv 是 3.14、wheels 卻是 cp313 → No matching distribution。先 python --version 查 venv。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250" b="0">
                <a:solidFill>
                  <a:srgbClr val="C9CFD8"/>
                </a:solidFill>
                <a:latin typeface="Microsoft JhengHei"/>
              </a:rPr>
              <a:t>‧ waitress-serve.exe 不存在：多半是 requirements.txt 漏寫 waitress，補上重裝。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12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960120"/>
          </a:xfrm>
          <a:prstGeom prst="rect">
            <a:avLst/>
          </a:prstGeom>
          <a:solidFill>
            <a:srgbClr val="35D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28016"/>
            <a:ext cx="10058400" cy="292608"/>
          </a:xfrm>
          <a:prstGeom prst="rect">
            <a:avLst/>
          </a:prstGeom>
          <a:noFill/>
        </p:spPr>
        <p:txBody>
          <a:bodyPr wrap="square" anchor="t" tIns="0" bIns="0" lIns="25400" rIns="2540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35D0E6"/>
                </a:solidFill>
                <a:latin typeface="Microsoft JhengHei"/>
              </a:rPr>
              <a:t>STEP 3 ‧ 設定檔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84048"/>
            <a:ext cx="10241280" cy="548640"/>
          </a:xfrm>
          <a:prstGeom prst="rect">
            <a:avLst/>
          </a:prstGeom>
          <a:noFill/>
        </p:spPr>
        <p:txBody>
          <a:bodyPr wrap="square" anchor="t" tIns="0" bIns="0" lIns="25400" rIns="2540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2600" b="1">
                <a:solidFill>
                  <a:srgbClr val="FFFFFF"/>
                </a:solidFill>
                <a:latin typeface="Microsoft JhengHei"/>
              </a:rPr>
              <a:t>wsgi.py + web.config（最大踩坑點）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98480" y="274320"/>
            <a:ext cx="1188720" cy="457200"/>
          </a:xfrm>
          <a:prstGeom prst="rect">
            <a:avLst/>
          </a:prstGeom>
          <a:noFill/>
        </p:spPr>
        <p:txBody>
          <a:bodyPr wrap="square" anchor="t" tIns="0" bIns="0" lIns="25400" rIns="25400">
            <a:spAutoFit/>
          </a:bodyPr>
          <a:lstStyle/>
          <a:p>
            <a:pPr algn="r"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8A93A1"/>
                </a:solidFill>
                <a:latin typeface="Microsoft JhengHei"/>
              </a:rPr>
              <a:t>PAGE 07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987552"/>
            <a:ext cx="11274552" cy="25400"/>
          </a:xfrm>
          <a:prstGeom prst="rect">
            <a:avLst/>
          </a:prstGeom>
          <a:solidFill>
            <a:srgbClr val="2A2F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280160"/>
            <a:ext cx="5577840" cy="2103120"/>
          </a:xfrm>
          <a:prstGeom prst="rect">
            <a:avLst/>
          </a:prstGeom>
          <a:solidFill>
            <a:srgbClr val="1B1F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1280160"/>
            <a:ext cx="5577840" cy="384048"/>
          </a:xfrm>
          <a:prstGeom prst="rect">
            <a:avLst/>
          </a:prstGeom>
          <a:solidFill>
            <a:srgbClr val="2A2F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1280160"/>
            <a:ext cx="76200" cy="384048"/>
          </a:xfrm>
          <a:prstGeom prst="rect">
            <a:avLst/>
          </a:prstGeom>
          <a:solidFill>
            <a:srgbClr val="35D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1280160"/>
            <a:ext cx="5303520" cy="384048"/>
          </a:xfrm>
          <a:prstGeom prst="rect">
            <a:avLst/>
          </a:prstGeom>
          <a:noFill/>
        </p:spPr>
        <p:txBody>
          <a:bodyPr wrap="square" anchor="ctr" tIns="0" bIns="0" lIns="25400" rIns="2540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400" b="1">
                <a:solidFill>
                  <a:srgbClr val="35D0E6"/>
                </a:solidFill>
                <a:latin typeface="Microsoft JhengHei"/>
              </a:rPr>
              <a:t>backend\wsgi.py（純內容）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" y="1828800"/>
            <a:ext cx="5212080" cy="1371600"/>
          </a:xfrm>
          <a:prstGeom prst="rect">
            <a:avLst/>
          </a:prstGeom>
          <a:solidFill>
            <a:srgbClr val="0C0E12"/>
          </a:solidFill>
          <a:ln w="12700">
            <a:solidFill>
              <a:srgbClr val="2A2F3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1920240"/>
            <a:ext cx="4937760" cy="1188720"/>
          </a:xfrm>
          <a:prstGeom prst="rect">
            <a:avLst/>
          </a:prstGeom>
          <a:noFill/>
        </p:spPr>
        <p:txBody>
          <a:bodyPr wrap="square" anchor="ctr" tIns="0" bIns="0" lIns="25400" rIns="2540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9CDCFE"/>
                </a:solidFill>
                <a:latin typeface="Consolas"/>
              </a:rPr>
              <a:t>import os, sys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9CDCFE"/>
                </a:solidFill>
                <a:latin typeface="Consolas"/>
              </a:rPr>
              <a:t>sys.path.insert(0,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9CDCFE"/>
                </a:solidFill>
                <a:latin typeface="Consolas"/>
              </a:rPr>
              <a:t>  os.path.dirname(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9CDCFE"/>
                </a:solidFill>
                <a:latin typeface="Consolas"/>
              </a:rPr>
              <a:t>    os.path.abspath(__file__)))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9CDCFE"/>
                </a:solidFill>
                <a:latin typeface="Consolas"/>
              </a:rPr>
              <a:t>from app import app as application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45352" y="1280160"/>
            <a:ext cx="5486400" cy="2103120"/>
          </a:xfrm>
          <a:prstGeom prst="rect">
            <a:avLst/>
          </a:prstGeom>
          <a:solidFill>
            <a:srgbClr val="1B1F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45352" y="1280160"/>
            <a:ext cx="5486400" cy="384048"/>
          </a:xfrm>
          <a:prstGeom prst="rect">
            <a:avLst/>
          </a:prstGeom>
          <a:solidFill>
            <a:srgbClr val="2A2F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245352" y="1280160"/>
            <a:ext cx="76200" cy="384048"/>
          </a:xfrm>
          <a:prstGeom prst="rect">
            <a:avLst/>
          </a:prstGeom>
          <a:solidFill>
            <a:srgbClr val="E7B4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28232" y="1280160"/>
            <a:ext cx="5212080" cy="384048"/>
          </a:xfrm>
          <a:prstGeom prst="rect">
            <a:avLst/>
          </a:prstGeom>
          <a:noFill/>
        </p:spPr>
        <p:txBody>
          <a:bodyPr wrap="square" anchor="ctr" tIns="0" bIns="0" lIns="25400" rIns="2540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400" b="1">
                <a:solidFill>
                  <a:srgbClr val="E7B43C"/>
                </a:solidFill>
                <a:latin typeface="Microsoft JhengHei"/>
              </a:rPr>
              <a:t>web.config 關鍵欄位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28232" y="1828800"/>
            <a:ext cx="5120640" cy="1463040"/>
          </a:xfrm>
          <a:prstGeom prst="rect">
            <a:avLst/>
          </a:prstGeom>
          <a:noFill/>
        </p:spPr>
        <p:txBody>
          <a:bodyPr wrap="square" anchor="t" tIns="0" bIns="0" lIns="25400" rIns="2540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200" b="0">
                <a:solidFill>
                  <a:srgbClr val="C9CFD8"/>
                </a:solidFill>
                <a:latin typeface="Microsoft JhengHei"/>
              </a:rPr>
              <a:t>‧ processPath = venv 內 waitress-serve.exe 完整路徑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200" b="0">
                <a:solidFill>
                  <a:srgbClr val="C9CFD8"/>
                </a:solidFill>
                <a:latin typeface="Microsoft JhengHei"/>
              </a:rPr>
              <a:t>‧ PYTHONPATH = app.py 所在資料夾（本例 backend）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200" b="0">
                <a:solidFill>
                  <a:srgbClr val="C9CFD8"/>
                </a:solidFill>
                <a:latin typeface="Microsoft JhengHei"/>
              </a:rPr>
              <a:t>‧ forwardWindowsAuthToken="true"（SSO 必須）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200" b="0">
                <a:solidFill>
                  <a:srgbClr val="C9CFD8"/>
                </a:solidFill>
                <a:latin typeface="Microsoft JhengHei"/>
              </a:rPr>
              <a:t>‧ 別放 &lt;authentication&gt; 區段（會被鎖→改用 IIS 畫面設）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3611880"/>
            <a:ext cx="11274552" cy="2606040"/>
          </a:xfrm>
          <a:prstGeom prst="rect">
            <a:avLst/>
          </a:prstGeom>
          <a:solidFill>
            <a:srgbClr val="1B1F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57200" y="3611880"/>
            <a:ext cx="101600" cy="2606040"/>
          </a:xfrm>
          <a:prstGeom prst="rect">
            <a:avLst/>
          </a:prstGeom>
          <a:solidFill>
            <a:srgbClr val="E06C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31520" y="3749039"/>
            <a:ext cx="10972800" cy="411480"/>
          </a:xfrm>
          <a:prstGeom prst="rect">
            <a:avLst/>
          </a:prstGeom>
          <a:noFill/>
        </p:spPr>
        <p:txBody>
          <a:bodyPr wrap="square" anchor="t" tIns="0" bIns="0" lIns="25400" rIns="2540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600" b="1">
                <a:solidFill>
                  <a:srgbClr val="E06C6C"/>
                </a:solidFill>
                <a:latin typeface="Microsoft JhengHei"/>
              </a:rPr>
              <a:t>⚠⚠ 血淚教訓：建檔只放「純內容」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" y="4251960"/>
            <a:ext cx="10881360" cy="1828800"/>
          </a:xfrm>
          <a:prstGeom prst="rect">
            <a:avLst/>
          </a:prstGeom>
          <a:noFill/>
        </p:spPr>
        <p:txBody>
          <a:bodyPr wrap="square" anchor="t" tIns="0" bIns="0" lIns="25400" rIns="25400">
            <a:spAutoFit/>
          </a:bodyPr>
          <a:lstStyle/>
          <a:p>
            <a:pPr algn="l">
              <a:spcBef>
                <a:spcPts val="0"/>
              </a:spcBef>
              <a:spcAft>
                <a:spcPts val="900"/>
              </a:spcAft>
            </a:pPr>
            <a:r>
              <a:rPr sz="1350" b="1">
                <a:solidFill>
                  <a:srgbClr val="FFFFFF"/>
                </a:solidFill>
                <a:latin typeface="Microsoft JhengHei"/>
              </a:rPr>
              <a:t>用記事本建檔，貼上檔案內容本身就好。</a:t>
            </a:r>
          </a:p>
          <a:p>
            <a:pPr algn="l">
              <a:spcBef>
                <a:spcPts val="0"/>
              </a:spcBef>
              <a:spcAft>
                <a:spcPts val="900"/>
              </a:spcAft>
            </a:pPr>
            <a:r>
              <a:rPr sz="1300" b="0">
                <a:solidFill>
                  <a:srgbClr val="E7B43C"/>
                </a:solidFill>
                <a:latin typeface="Microsoft JhengHei"/>
              </a:rPr>
              <a:t>不要把 PowerShell 的包裝指令（@'  ...  '@ | Set-Content）一起存進檔案！</a:t>
            </a:r>
          </a:p>
          <a:p>
            <a:pPr algn="l">
              <a:spcBef>
                <a:spcPts val="0"/>
              </a:spcBef>
              <a:spcAft>
                <a:spcPts val="900"/>
              </a:spcAft>
            </a:pPr>
            <a:r>
              <a:rPr sz="1250" b="0">
                <a:solidFill>
                  <a:srgbClr val="C9CFD8"/>
                </a:solidFill>
                <a:latin typeface="Microsoft JhengHei"/>
              </a:rPr>
              <a:t>否則 web.config 開頭變成 @' 而不是 &lt;?xml → IIS 解析失敗 → 500、且 log 不生成。</a:t>
            </a:r>
          </a:p>
          <a:p>
            <a:pPr algn="l">
              <a:spcBef>
                <a:spcPts val="0"/>
              </a:spcBef>
              <a:spcAft>
                <a:spcPts val="900"/>
              </a:spcAft>
            </a:pPr>
            <a:r>
              <a:rPr sz="1250" b="0">
                <a:solidFill>
                  <a:srgbClr val="4FC17A"/>
                </a:solidFill>
                <a:latin typeface="Microsoft JhengHei"/>
              </a:rPr>
              <a:t>存完用 type web.config 確認：開頭是 &lt;?xml、結尾是 &lt;/configuration&gt;、沒有 @'。</a:t>
            </a:r>
          </a:p>
          <a:p>
            <a:pPr algn="l">
              <a:spcBef>
                <a:spcPts val="0"/>
              </a:spcBef>
              <a:spcAft>
                <a:spcPts val="900"/>
              </a:spcAft>
            </a:pPr>
            <a:r>
              <a:rPr sz="1250" b="0">
                <a:solidFill>
                  <a:srgbClr val="C9CFD8"/>
                </a:solidFill>
                <a:latin typeface="Microsoft JhengHei"/>
              </a:rPr>
              <a:t>web.config 放在專案最外層（跟 venv / wheels 同一層）。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12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960120"/>
          </a:xfrm>
          <a:prstGeom prst="rect">
            <a:avLst/>
          </a:prstGeom>
          <a:solidFill>
            <a:srgbClr val="35D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28016"/>
            <a:ext cx="10058400" cy="292608"/>
          </a:xfrm>
          <a:prstGeom prst="rect">
            <a:avLst/>
          </a:prstGeom>
          <a:noFill/>
        </p:spPr>
        <p:txBody>
          <a:bodyPr wrap="square" anchor="t" tIns="0" bIns="0" lIns="25400" rIns="2540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35D0E6"/>
                </a:solidFill>
                <a:latin typeface="Microsoft JhengHei"/>
              </a:rPr>
              <a:t>STEP 4 ‧ IIS 設定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84048"/>
            <a:ext cx="10241280" cy="548640"/>
          </a:xfrm>
          <a:prstGeom prst="rect">
            <a:avLst/>
          </a:prstGeom>
          <a:noFill/>
        </p:spPr>
        <p:txBody>
          <a:bodyPr wrap="square" anchor="t" tIns="0" bIns="0" lIns="25400" rIns="2540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2600" b="1">
                <a:solidFill>
                  <a:srgbClr val="FFFFFF"/>
                </a:solidFill>
                <a:latin typeface="Microsoft JhengHei"/>
              </a:rPr>
              <a:t>建立 AppPool + 網站 + 驗證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98480" y="274320"/>
            <a:ext cx="1188720" cy="457200"/>
          </a:xfrm>
          <a:prstGeom prst="rect">
            <a:avLst/>
          </a:prstGeom>
          <a:noFill/>
        </p:spPr>
        <p:txBody>
          <a:bodyPr wrap="square" anchor="t" tIns="0" bIns="0" lIns="25400" rIns="25400">
            <a:spAutoFit/>
          </a:bodyPr>
          <a:lstStyle/>
          <a:p>
            <a:pPr algn="r"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8A93A1"/>
                </a:solidFill>
                <a:latin typeface="Microsoft JhengHei"/>
              </a:rPr>
              <a:t>PAGE 08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987552"/>
            <a:ext cx="11274552" cy="25400"/>
          </a:xfrm>
          <a:prstGeom prst="rect">
            <a:avLst/>
          </a:prstGeom>
          <a:solidFill>
            <a:srgbClr val="2A2F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280160"/>
            <a:ext cx="3657600" cy="2743200"/>
          </a:xfrm>
          <a:prstGeom prst="rect">
            <a:avLst/>
          </a:prstGeom>
          <a:solidFill>
            <a:srgbClr val="1B1F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1280160"/>
            <a:ext cx="3657600" cy="384048"/>
          </a:xfrm>
          <a:prstGeom prst="rect">
            <a:avLst/>
          </a:prstGeom>
          <a:solidFill>
            <a:srgbClr val="2A2F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1280160"/>
            <a:ext cx="76200" cy="384048"/>
          </a:xfrm>
          <a:prstGeom prst="rect">
            <a:avLst/>
          </a:prstGeom>
          <a:solidFill>
            <a:srgbClr val="3E8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1280160"/>
            <a:ext cx="3383280" cy="384048"/>
          </a:xfrm>
          <a:prstGeom prst="rect">
            <a:avLst/>
          </a:prstGeom>
          <a:noFill/>
        </p:spPr>
        <p:txBody>
          <a:bodyPr wrap="square" anchor="ctr" tIns="0" bIns="0" lIns="25400" rIns="2540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400" b="1">
                <a:solidFill>
                  <a:srgbClr val="3E8FD6"/>
                </a:solidFill>
                <a:latin typeface="Microsoft JhengHei"/>
              </a:rPr>
              <a:t>① AppPool（引擎）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1828800"/>
            <a:ext cx="3291840" cy="2103120"/>
          </a:xfrm>
          <a:prstGeom prst="rect">
            <a:avLst/>
          </a:prstGeom>
          <a:noFill/>
        </p:spPr>
        <p:txBody>
          <a:bodyPr wrap="square" anchor="t" tIns="0" bIns="0" lIns="25400" r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50" b="1">
                <a:solidFill>
                  <a:srgbClr val="FFFFFF"/>
                </a:solidFill>
                <a:latin typeface="Microsoft JhengHei"/>
              </a:rPr>
              <a:t>名稱 Pool-budgetagent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500" b="0">
                <a:solidFill>
                  <a:srgbClr val="8A93A1"/>
                </a:solidFill>
                <a:latin typeface="Microsoft JhengHei"/>
              </a:rPr>
              <a:t/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00" b="0">
                <a:solidFill>
                  <a:srgbClr val="C9CFD8"/>
                </a:solidFill>
                <a:latin typeface="Microsoft JhengHei"/>
              </a:rPr>
              <a:t>.NET CLR 版本：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50" b="1">
                <a:solidFill>
                  <a:srgbClr val="E7B43C"/>
                </a:solidFill>
                <a:latin typeface="Microsoft JhengHei"/>
              </a:rPr>
              <a:t>沒有 Managed 程式碼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500" b="0">
                <a:solidFill>
                  <a:srgbClr val="8A93A1"/>
                </a:solidFill>
                <a:latin typeface="Microsoft JhengHei"/>
              </a:rPr>
              <a:t/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00" b="0">
                <a:solidFill>
                  <a:srgbClr val="C9CFD8"/>
                </a:solidFill>
                <a:latin typeface="Microsoft JhengHei"/>
              </a:rPr>
              <a:t>啟動模式：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50" b="1">
                <a:solidFill>
                  <a:srgbClr val="E7B43C"/>
                </a:solidFill>
                <a:latin typeface="Microsoft JhengHei"/>
              </a:rPr>
              <a:t>AlwaysRunning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261104" y="1280160"/>
            <a:ext cx="3657600" cy="2743200"/>
          </a:xfrm>
          <a:prstGeom prst="rect">
            <a:avLst/>
          </a:prstGeom>
          <a:solidFill>
            <a:srgbClr val="1B1F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261104" y="1280160"/>
            <a:ext cx="3657600" cy="384048"/>
          </a:xfrm>
          <a:prstGeom prst="rect">
            <a:avLst/>
          </a:prstGeom>
          <a:solidFill>
            <a:srgbClr val="2A2F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261104" y="1280160"/>
            <a:ext cx="76200" cy="384048"/>
          </a:xfrm>
          <a:prstGeom prst="rect">
            <a:avLst/>
          </a:prstGeom>
          <a:solidFill>
            <a:srgbClr val="35D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443984" y="1280160"/>
            <a:ext cx="3383280" cy="384048"/>
          </a:xfrm>
          <a:prstGeom prst="rect">
            <a:avLst/>
          </a:prstGeom>
          <a:noFill/>
        </p:spPr>
        <p:txBody>
          <a:bodyPr wrap="square" anchor="ctr" tIns="0" bIns="0" lIns="25400" rIns="2540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400" b="1">
                <a:solidFill>
                  <a:srgbClr val="35D0E6"/>
                </a:solidFill>
                <a:latin typeface="Microsoft JhengHei"/>
              </a:rPr>
              <a:t>② 網站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43984" y="1828800"/>
            <a:ext cx="3291840" cy="2103120"/>
          </a:xfrm>
          <a:prstGeom prst="rect">
            <a:avLst/>
          </a:prstGeom>
          <a:noFill/>
        </p:spPr>
        <p:txBody>
          <a:bodyPr wrap="square" anchor="t" tIns="0" bIns="0" lIns="25400" rIns="25400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250" b="1">
                <a:solidFill>
                  <a:srgbClr val="FFFFFF"/>
                </a:solidFill>
                <a:latin typeface="Microsoft JhengHei"/>
              </a:rPr>
              <a:t>名稱 budgetagent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500" b="0">
                <a:solidFill>
                  <a:srgbClr val="8A93A1"/>
                </a:solidFill>
                <a:latin typeface="Microsoft JhengHei"/>
              </a:rPr>
              <a:t/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200" b="0">
                <a:solidFill>
                  <a:srgbClr val="C9CFD8"/>
                </a:solidFill>
                <a:latin typeface="Microsoft JhengHei"/>
              </a:rPr>
              <a:t>實體路徑：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100" b="1">
                <a:solidFill>
                  <a:srgbClr val="E7B43C"/>
                </a:solidFill>
                <a:latin typeface="Microsoft JhengHei"/>
              </a:rPr>
              <a:t>D:\Web Service\budgetagent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050" b="0">
                <a:solidFill>
                  <a:srgbClr val="8A93A1"/>
                </a:solidFill>
                <a:latin typeface="Microsoft JhengHei"/>
              </a:rPr>
              <a:t>（最外層）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500" b="0">
                <a:solidFill>
                  <a:srgbClr val="8A93A1"/>
                </a:solidFill>
                <a:latin typeface="Microsoft JhengHei"/>
              </a:rPr>
              <a:t/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150" b="0">
                <a:solidFill>
                  <a:srgbClr val="C9CFD8"/>
                </a:solidFill>
                <a:latin typeface="Microsoft JhengHei"/>
              </a:rPr>
              <a:t>應用程式集區：Pool-budgetagent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250" b="1">
                <a:solidFill>
                  <a:srgbClr val="FFFFFF"/>
                </a:solidFill>
                <a:latin typeface="Microsoft JhengHei"/>
              </a:rPr>
              <a:t>Port：8001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074152" y="1280160"/>
            <a:ext cx="3657600" cy="2743200"/>
          </a:xfrm>
          <a:prstGeom prst="rect">
            <a:avLst/>
          </a:prstGeom>
          <a:solidFill>
            <a:srgbClr val="1B1F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074152" y="1280160"/>
            <a:ext cx="3657600" cy="384048"/>
          </a:xfrm>
          <a:prstGeom prst="rect">
            <a:avLst/>
          </a:prstGeom>
          <a:solidFill>
            <a:srgbClr val="2A2F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074152" y="1280160"/>
            <a:ext cx="76200" cy="384048"/>
          </a:xfrm>
          <a:prstGeom prst="rect">
            <a:avLst/>
          </a:prstGeom>
          <a:solidFill>
            <a:srgbClr val="4FC1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57032" y="1280160"/>
            <a:ext cx="3383280" cy="384048"/>
          </a:xfrm>
          <a:prstGeom prst="rect">
            <a:avLst/>
          </a:prstGeom>
          <a:noFill/>
        </p:spPr>
        <p:txBody>
          <a:bodyPr wrap="square" anchor="ctr" tIns="0" bIns="0" lIns="25400" rIns="2540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400" b="1">
                <a:solidFill>
                  <a:srgbClr val="4FC17A"/>
                </a:solidFill>
                <a:latin typeface="Microsoft JhengHei"/>
              </a:rPr>
              <a:t>③ 驗證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57031" y="1828800"/>
            <a:ext cx="3291840" cy="2103120"/>
          </a:xfrm>
          <a:prstGeom prst="rect">
            <a:avLst/>
          </a:prstGeom>
          <a:noFill/>
        </p:spPr>
        <p:txBody>
          <a:bodyPr wrap="square" anchor="t" tIns="0" bIns="0" lIns="25400" rIns="25400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250" b="1">
                <a:solidFill>
                  <a:srgbClr val="FFFFFF"/>
                </a:solidFill>
                <a:latin typeface="Microsoft JhengHei"/>
              </a:rPr>
              <a:t>網站 → 雙擊「驗證」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050" b="0">
                <a:solidFill>
                  <a:srgbClr val="8A93A1"/>
                </a:solidFill>
                <a:latin typeface="Microsoft JhengHei"/>
              </a:rPr>
              <a:t>（中間切到「功能檢視」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050" b="0">
                <a:solidFill>
                  <a:srgbClr val="8A93A1"/>
                </a:solidFill>
                <a:latin typeface="Microsoft JhengHei"/>
              </a:rPr>
              <a:t>  才看得到圖示）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600" b="0">
                <a:solidFill>
                  <a:srgbClr val="8A93A1"/>
                </a:solidFill>
                <a:latin typeface="Microsoft JhengHei"/>
              </a:rPr>
              <a:t/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300" b="1">
                <a:solidFill>
                  <a:srgbClr val="E06C6C"/>
                </a:solidFill>
                <a:latin typeface="Microsoft JhengHei"/>
              </a:rPr>
              <a:t>匿名驗證 → 停用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300" b="1">
                <a:solidFill>
                  <a:srgbClr val="4FC17A"/>
                </a:solidFill>
                <a:latin typeface="Microsoft JhengHei"/>
              </a:rPr>
              <a:t>Windows 驗證 → 啟用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500" b="0">
                <a:solidFill>
                  <a:srgbClr val="8A93A1"/>
                </a:solidFill>
                <a:latin typeface="Microsoft JhengHei"/>
              </a:rPr>
              <a:t/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100" b="0">
                <a:solidFill>
                  <a:srgbClr val="C9CFD8"/>
                </a:solidFill>
                <a:latin typeface="Microsoft JhengHei"/>
              </a:rPr>
              <a:t>提供者含 Negotiate/NTLM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" y="4206240"/>
            <a:ext cx="11274552" cy="2011680"/>
          </a:xfrm>
          <a:prstGeom prst="rect">
            <a:avLst/>
          </a:prstGeom>
          <a:solidFill>
            <a:srgbClr val="1B1F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57200" y="4206240"/>
            <a:ext cx="101600" cy="2011680"/>
          </a:xfrm>
          <a:prstGeom prst="rect">
            <a:avLst/>
          </a:prstGeom>
          <a:solidFill>
            <a:srgbClr val="E7B4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31520" y="4343400"/>
            <a:ext cx="10972800" cy="365760"/>
          </a:xfrm>
          <a:prstGeom prst="rect">
            <a:avLst/>
          </a:prstGeom>
          <a:noFill/>
        </p:spPr>
        <p:txBody>
          <a:bodyPr wrap="square" anchor="t" tIns="0" bIns="0" lIns="25400" rIns="2540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500" b="1">
                <a:solidFill>
                  <a:srgbClr val="E7B43C"/>
                </a:solidFill>
                <a:latin typeface="Microsoft JhengHei"/>
              </a:rPr>
              <a:t>💡 小提醒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1520" y="4754880"/>
            <a:ext cx="10881360" cy="1371600"/>
          </a:xfrm>
          <a:prstGeom prst="rect">
            <a:avLst/>
          </a:prstGeom>
          <a:noFill/>
        </p:spPr>
        <p:txBody>
          <a:bodyPr wrap="square" anchor="t" tIns="0" bIns="0" lIns="25400" rIns="25400">
            <a:spAutoFit/>
          </a:bodyPr>
          <a:lstStyle/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250" b="0">
                <a:solidFill>
                  <a:srgbClr val="C9CFD8"/>
                </a:solidFill>
                <a:latin typeface="Microsoft JhengHei"/>
              </a:rPr>
              <a:t>‧ 找不到「網站」項目？在左欄展開「電腦名稱」，它就在「應用程式集區」下方。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250" b="0">
                <a:solidFill>
                  <a:srgbClr val="C9CFD8"/>
                </a:solidFill>
                <a:latin typeface="Microsoft JhengHei"/>
              </a:rPr>
              <a:t>‧ 看不到「驗證」圖示？中間下方從「內容檢視」切到「功能檢視」。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250" b="0">
                <a:solidFill>
                  <a:srgbClr val="C9CFD8"/>
                </a:solidFill>
                <a:latin typeface="Microsoft JhengHei"/>
              </a:rPr>
              <a:t>‧ AppPool ≠ 網站：要分別建立，兩個都要有。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12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960120"/>
          </a:xfrm>
          <a:prstGeom prst="rect">
            <a:avLst/>
          </a:prstGeom>
          <a:solidFill>
            <a:srgbClr val="35D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28016"/>
            <a:ext cx="10058400" cy="292608"/>
          </a:xfrm>
          <a:prstGeom prst="rect">
            <a:avLst/>
          </a:prstGeom>
          <a:noFill/>
        </p:spPr>
        <p:txBody>
          <a:bodyPr wrap="square" anchor="t" tIns="0" bIns="0" lIns="25400" rIns="2540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35D0E6"/>
                </a:solidFill>
                <a:latin typeface="Microsoft JhengHei"/>
              </a:rPr>
              <a:t>STEP 5 ‧ 權限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84048"/>
            <a:ext cx="10241280" cy="548640"/>
          </a:xfrm>
          <a:prstGeom prst="rect">
            <a:avLst/>
          </a:prstGeom>
          <a:noFill/>
        </p:spPr>
        <p:txBody>
          <a:bodyPr wrap="square" anchor="t" tIns="0" bIns="0" lIns="25400" rIns="2540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2600" b="1">
                <a:solidFill>
                  <a:srgbClr val="FFFFFF"/>
                </a:solidFill>
                <a:latin typeface="Microsoft JhengHei"/>
              </a:rPr>
              <a:t>給 AppPool 帳號資料夾權限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98480" y="274320"/>
            <a:ext cx="1188720" cy="457200"/>
          </a:xfrm>
          <a:prstGeom prst="rect">
            <a:avLst/>
          </a:prstGeom>
          <a:noFill/>
        </p:spPr>
        <p:txBody>
          <a:bodyPr wrap="square" anchor="t" tIns="0" bIns="0" lIns="25400" rIns="25400">
            <a:spAutoFit/>
          </a:bodyPr>
          <a:lstStyle/>
          <a:p>
            <a:pPr algn="r"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8A93A1"/>
                </a:solidFill>
                <a:latin typeface="Microsoft JhengHei"/>
              </a:rPr>
              <a:t>PAGE 09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987552"/>
            <a:ext cx="11274552" cy="25400"/>
          </a:xfrm>
          <a:prstGeom prst="rect">
            <a:avLst/>
          </a:prstGeom>
          <a:solidFill>
            <a:srgbClr val="2A2F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280160"/>
            <a:ext cx="11274552" cy="1554480"/>
          </a:xfrm>
          <a:prstGeom prst="rect">
            <a:avLst/>
          </a:prstGeom>
          <a:solidFill>
            <a:srgbClr val="1B1F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1280160"/>
            <a:ext cx="101600" cy="1554480"/>
          </a:xfrm>
          <a:prstGeom prst="rect">
            <a:avLst/>
          </a:prstGeom>
          <a:solidFill>
            <a:srgbClr val="E06C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1417320"/>
            <a:ext cx="10972800" cy="365760"/>
          </a:xfrm>
          <a:prstGeom prst="rect">
            <a:avLst/>
          </a:prstGeom>
          <a:noFill/>
        </p:spPr>
        <p:txBody>
          <a:bodyPr wrap="square" anchor="t" tIns="0" bIns="0" lIns="25400" rIns="2540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500" b="1">
                <a:solidFill>
                  <a:srgbClr val="E06C6C"/>
                </a:solidFill>
                <a:latin typeface="Microsoft JhengHei"/>
              </a:rPr>
              <a:t>為什麼要這步？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1828800"/>
            <a:ext cx="10881360" cy="914400"/>
          </a:xfrm>
          <a:prstGeom prst="rect">
            <a:avLst/>
          </a:prstGeom>
          <a:noFill/>
        </p:spPr>
        <p:txBody>
          <a:bodyPr wrap="square" anchor="t" tIns="0" bIns="0" lIns="25400" rIns="2540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300" b="0">
                <a:solidFill>
                  <a:srgbClr val="C9CFD8"/>
                </a:solidFill>
                <a:latin typeface="Microsoft JhengHei"/>
              </a:rPr>
              <a:t>手動跑能開、IIS 跑卻 500 → 因為 IIS 用低權限帳號 IIS AppPool\Pool-budgetagent，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300" b="0">
                <a:solidFill>
                  <a:srgbClr val="C9CFD8"/>
                </a:solidFill>
                <a:latin typeface="Microsoft JhengHei"/>
              </a:rPr>
              <a:t>讀不到你的程式 / venv。給它權限就好。UI 設常卡（位置要選本機），用 icacls 最穩。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3017520"/>
            <a:ext cx="11274552" cy="1828800"/>
          </a:xfrm>
          <a:prstGeom prst="rect">
            <a:avLst/>
          </a:prstGeom>
          <a:solidFill>
            <a:srgbClr val="1B1F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57200" y="3017520"/>
            <a:ext cx="11274552" cy="384048"/>
          </a:xfrm>
          <a:prstGeom prst="rect">
            <a:avLst/>
          </a:prstGeom>
          <a:solidFill>
            <a:srgbClr val="2A2F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57200" y="3017520"/>
            <a:ext cx="76200" cy="384048"/>
          </a:xfrm>
          <a:prstGeom prst="rect">
            <a:avLst/>
          </a:prstGeom>
          <a:solidFill>
            <a:srgbClr val="35D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3017520"/>
            <a:ext cx="11000232" cy="384048"/>
          </a:xfrm>
          <a:prstGeom prst="rect">
            <a:avLst/>
          </a:prstGeom>
          <a:noFill/>
        </p:spPr>
        <p:txBody>
          <a:bodyPr wrap="square" anchor="ctr" tIns="0" bIns="0" lIns="25400" rIns="2540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400" b="1">
                <a:solidFill>
                  <a:srgbClr val="35D0E6"/>
                </a:solidFill>
                <a:latin typeface="Microsoft JhengHei"/>
              </a:rPr>
              <a:t>icacls 一次搞定（系統管理員 PowerShell）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0080" y="3566160"/>
            <a:ext cx="10881360" cy="1097280"/>
          </a:xfrm>
          <a:prstGeom prst="rect">
            <a:avLst/>
          </a:prstGeom>
          <a:solidFill>
            <a:srgbClr val="0C0E12"/>
          </a:solidFill>
          <a:ln w="12700">
            <a:solidFill>
              <a:srgbClr val="2A2F3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" y="3657600"/>
            <a:ext cx="10607040" cy="914400"/>
          </a:xfrm>
          <a:prstGeom prst="rect">
            <a:avLst/>
          </a:prstGeom>
          <a:noFill/>
        </p:spPr>
        <p:txBody>
          <a:bodyPr wrap="square" anchor="ctr" tIns="0" bIns="0" lIns="25400" rIns="2540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9CDCFE"/>
                </a:solidFill>
                <a:latin typeface="Consolas"/>
              </a:rPr>
              <a:t>icacls "D:\Web Service\budgetagent" /grant "IIS AppPool\Pool-budgetagent:(OI)(CI)RX" /T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9CDCFE"/>
                </a:solidFill>
                <a:latin typeface="Consolas"/>
              </a:rPr>
              <a:t>icacls "D:\Web Service\budgetagent\logs" /grant "IIS AppPool\Pool-budgetagent:(OI)(CI)M" /T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5029200"/>
            <a:ext cx="11274552" cy="1188720"/>
          </a:xfrm>
          <a:prstGeom prst="rect">
            <a:avLst/>
          </a:prstGeom>
          <a:noFill/>
        </p:spPr>
        <p:txBody>
          <a:bodyPr wrap="square" anchor="t" tIns="0" bIns="0" lIns="25400" rIns="25400">
            <a:spAutoFit/>
          </a:bodyPr>
          <a:lstStyle/>
          <a:p>
            <a:pPr algn="l">
              <a:spcBef>
                <a:spcPts val="0"/>
              </a:spcBef>
              <a:spcAft>
                <a:spcPts val="900"/>
              </a:spcAft>
            </a:pPr>
            <a:r>
              <a:rPr sz="1250" b="0">
                <a:solidFill>
                  <a:srgbClr val="C9CFD8"/>
                </a:solidFill>
                <a:latin typeface="Microsoft JhengHei"/>
              </a:rPr>
              <a:t>‧ 主目錄給 RX（讀取+執行）→ IIS 跑得動 Python；logs 給 M（修改）→ 寫得了 log。</a:t>
            </a:r>
          </a:p>
          <a:p>
            <a:pPr algn="l">
              <a:spcBef>
                <a:spcPts val="0"/>
              </a:spcBef>
              <a:spcAft>
                <a:spcPts val="900"/>
              </a:spcAft>
            </a:pPr>
            <a:r>
              <a:rPr sz="1250" b="0">
                <a:solidFill>
                  <a:srgbClr val="C9CFD8"/>
                </a:solidFill>
                <a:latin typeface="Microsoft JhengHei"/>
              </a:rPr>
              <a:t>‧ 路徑有空格 → 一定用雙引號包起來。看到「已順利處理 N 個檔案」即成功。</a:t>
            </a:r>
          </a:p>
          <a:p>
            <a:pPr algn="l">
              <a:spcBef>
                <a:spcPts val="0"/>
              </a:spcBef>
              <a:spcAft>
                <a:spcPts val="900"/>
              </a:spcAft>
            </a:pPr>
            <a:r>
              <a:rPr sz="1250" b="0">
                <a:solidFill>
                  <a:srgbClr val="C9CFD8"/>
                </a:solidFill>
                <a:latin typeface="Microsoft JhengHei"/>
              </a:rPr>
              <a:t>‧ /T = 連所有子資料夾/檔案一起套用。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12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960120"/>
          </a:xfrm>
          <a:prstGeom prst="rect">
            <a:avLst/>
          </a:prstGeom>
          <a:solidFill>
            <a:srgbClr val="35D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28016"/>
            <a:ext cx="10058400" cy="292608"/>
          </a:xfrm>
          <a:prstGeom prst="rect">
            <a:avLst/>
          </a:prstGeom>
          <a:noFill/>
        </p:spPr>
        <p:txBody>
          <a:bodyPr wrap="square" anchor="t" tIns="0" bIns="0" lIns="25400" rIns="2540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35D0E6"/>
                </a:solidFill>
                <a:latin typeface="Microsoft JhengHei"/>
              </a:rPr>
              <a:t>STEP 6 ‧ 上線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84048"/>
            <a:ext cx="10241280" cy="548640"/>
          </a:xfrm>
          <a:prstGeom prst="rect">
            <a:avLst/>
          </a:prstGeom>
          <a:noFill/>
        </p:spPr>
        <p:txBody>
          <a:bodyPr wrap="square" anchor="t" tIns="0" bIns="0" lIns="25400" rIns="2540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2600" b="1">
                <a:solidFill>
                  <a:srgbClr val="FFFFFF"/>
                </a:solidFill>
                <a:latin typeface="Microsoft JhengHei"/>
              </a:rPr>
              <a:t>iisreset → 用正確網址測試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98480" y="274320"/>
            <a:ext cx="1188720" cy="457200"/>
          </a:xfrm>
          <a:prstGeom prst="rect">
            <a:avLst/>
          </a:prstGeom>
          <a:noFill/>
        </p:spPr>
        <p:txBody>
          <a:bodyPr wrap="square" anchor="t" tIns="0" bIns="0" lIns="25400" rIns="25400">
            <a:spAutoFit/>
          </a:bodyPr>
          <a:lstStyle/>
          <a:p>
            <a:pPr algn="r"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8A93A1"/>
                </a:solidFill>
                <a:latin typeface="Microsoft JhengHei"/>
              </a:rPr>
              <a:t>PAGE 10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987552"/>
            <a:ext cx="11274552" cy="25400"/>
          </a:xfrm>
          <a:prstGeom prst="rect">
            <a:avLst/>
          </a:prstGeom>
          <a:solidFill>
            <a:srgbClr val="2A2F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280160"/>
            <a:ext cx="5577840" cy="2377440"/>
          </a:xfrm>
          <a:prstGeom prst="rect">
            <a:avLst/>
          </a:prstGeom>
          <a:solidFill>
            <a:srgbClr val="1B1F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1280160"/>
            <a:ext cx="5577840" cy="384048"/>
          </a:xfrm>
          <a:prstGeom prst="rect">
            <a:avLst/>
          </a:prstGeom>
          <a:solidFill>
            <a:srgbClr val="2A2F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1280160"/>
            <a:ext cx="76200" cy="384048"/>
          </a:xfrm>
          <a:prstGeom prst="rect">
            <a:avLst/>
          </a:prstGeom>
          <a:solidFill>
            <a:srgbClr val="E7B4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1280160"/>
            <a:ext cx="5303520" cy="384048"/>
          </a:xfrm>
          <a:prstGeom prst="rect">
            <a:avLst/>
          </a:prstGeom>
          <a:noFill/>
        </p:spPr>
        <p:txBody>
          <a:bodyPr wrap="square" anchor="ctr" tIns="0" bIns="0" lIns="25400" rIns="2540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400" b="1">
                <a:solidFill>
                  <a:srgbClr val="E7B43C"/>
                </a:solidFill>
                <a:latin typeface="Microsoft JhengHei"/>
              </a:rPr>
              <a:t>用「正確的網址」測（不一定 localhost）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" y="1828800"/>
            <a:ext cx="5212080" cy="411480"/>
          </a:xfrm>
          <a:prstGeom prst="rect">
            <a:avLst/>
          </a:prstGeom>
          <a:solidFill>
            <a:srgbClr val="0C0E12"/>
          </a:solidFill>
          <a:ln w="12700">
            <a:solidFill>
              <a:srgbClr val="2A2F3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1920240"/>
            <a:ext cx="4937760" cy="228600"/>
          </a:xfrm>
          <a:prstGeom prst="rect">
            <a:avLst/>
          </a:prstGeom>
          <a:noFill/>
        </p:spPr>
        <p:txBody>
          <a:bodyPr wrap="square" anchor="ctr" tIns="0" bIns="0" lIns="25400" rIns="2540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9CDCFE"/>
                </a:solidFill>
                <a:latin typeface="Consolas"/>
              </a:rPr>
              <a:t>Get-WebBinding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2377440"/>
            <a:ext cx="5212080" cy="1188720"/>
          </a:xfrm>
          <a:prstGeom prst="rect">
            <a:avLst/>
          </a:prstGeom>
          <a:noFill/>
        </p:spPr>
        <p:txBody>
          <a:bodyPr wrap="square" anchor="t" tIns="0" bIns="0" lIns="25400" rIns="2540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250" b="0">
                <a:solidFill>
                  <a:srgbClr val="C9CFD8"/>
                </a:solidFill>
                <a:latin typeface="Microsoft JhengHei"/>
              </a:rPr>
              <a:t>‧ 綁 *:8001  → http://localhost:8001 可以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250" b="0">
                <a:solidFill>
                  <a:srgbClr val="C9CFD8"/>
                </a:solidFill>
                <a:latin typeface="Microsoft JhengHei"/>
              </a:rPr>
              <a:t>‧ 綁特定 IP（例 10.10.28.170:8001）→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250" b="1">
                <a:solidFill>
                  <a:srgbClr val="E7B43C"/>
                </a:solidFill>
                <a:latin typeface="Microsoft JhengHei"/>
              </a:rPr>
              <a:t>   必須用 http://10.10.28.170:8001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8A93A1"/>
                </a:solidFill>
                <a:latin typeface="Microsoft JhengHei"/>
              </a:rPr>
              <a:t>   用 localhost 會 400 Invalid Hostname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45352" y="1280160"/>
            <a:ext cx="5486400" cy="2377440"/>
          </a:xfrm>
          <a:prstGeom prst="rect">
            <a:avLst/>
          </a:prstGeom>
          <a:solidFill>
            <a:srgbClr val="1B1F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245352" y="1280160"/>
            <a:ext cx="5486400" cy="384048"/>
          </a:xfrm>
          <a:prstGeom prst="rect">
            <a:avLst/>
          </a:prstGeom>
          <a:solidFill>
            <a:srgbClr val="2A2F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45352" y="1280160"/>
            <a:ext cx="76200" cy="384048"/>
          </a:xfrm>
          <a:prstGeom prst="rect">
            <a:avLst/>
          </a:prstGeom>
          <a:solidFill>
            <a:srgbClr val="35D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28232" y="1280160"/>
            <a:ext cx="5212080" cy="384048"/>
          </a:xfrm>
          <a:prstGeom prst="rect">
            <a:avLst/>
          </a:prstGeom>
          <a:noFill/>
        </p:spPr>
        <p:txBody>
          <a:bodyPr wrap="square" anchor="ctr" tIns="0" bIns="0" lIns="25400" rIns="2540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400" b="1">
                <a:solidFill>
                  <a:srgbClr val="35D0E6"/>
                </a:solidFill>
                <a:latin typeface="Microsoft JhengHei"/>
              </a:rPr>
              <a:t>讓其他同事連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28232" y="1828800"/>
            <a:ext cx="5120640" cy="868680"/>
          </a:xfrm>
          <a:prstGeom prst="rect">
            <a:avLst/>
          </a:prstGeom>
          <a:solidFill>
            <a:srgbClr val="0C0E12"/>
          </a:solidFill>
          <a:ln w="12700">
            <a:solidFill>
              <a:srgbClr val="2A2F3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65392" y="1920240"/>
            <a:ext cx="4846320" cy="685800"/>
          </a:xfrm>
          <a:prstGeom prst="rect">
            <a:avLst/>
          </a:prstGeom>
          <a:noFill/>
        </p:spPr>
        <p:txBody>
          <a:bodyPr wrap="square" anchor="ctr" tIns="0" bIns="0" lIns="25400" rIns="2540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9CDCFE"/>
                </a:solidFill>
                <a:latin typeface="Consolas"/>
              </a:rPr>
              <a:t>New-NetFirewallRule -DisplayName "app-8001"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9CDCFE"/>
                </a:solidFill>
                <a:latin typeface="Consolas"/>
              </a:rPr>
              <a:t>  -Direction Inbound -Protocol TCP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9CDCFE"/>
                </a:solidFill>
                <a:latin typeface="Consolas"/>
              </a:rPr>
              <a:t>  -LocalPort 8001 -Action Allow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28232" y="2788920"/>
            <a:ext cx="5120640" cy="822960"/>
          </a:xfrm>
          <a:prstGeom prst="rect">
            <a:avLst/>
          </a:prstGeom>
          <a:noFill/>
        </p:spPr>
        <p:txBody>
          <a:bodyPr wrap="square" anchor="t" tIns="0" bIns="0" lIns="25400" r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50" b="0">
                <a:solidFill>
                  <a:srgbClr val="C9CFD8"/>
                </a:solidFill>
                <a:latin typeface="Microsoft JhengHei"/>
              </a:rPr>
              <a:t>‧ 同事用 http://機器名稱:8001 連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50" b="0">
                <a:solidFill>
                  <a:srgbClr val="C9CFD8"/>
                </a:solidFill>
                <a:latin typeface="Microsoft JhengHei"/>
              </a:rPr>
              <a:t>‧ 站台加入瀏覽器「近端內部網路」避免彈窗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50" b="0">
                <a:solidFill>
                  <a:srgbClr val="C9CFD8"/>
                </a:solidFill>
                <a:latin typeface="Microsoft JhengHei"/>
              </a:rPr>
              <a:t>‧ SSO 用機器名稱比 IP 準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7200" y="3931920"/>
            <a:ext cx="11274552" cy="2286000"/>
          </a:xfrm>
          <a:prstGeom prst="rect">
            <a:avLst/>
          </a:prstGeom>
          <a:solidFill>
            <a:srgbClr val="1B1F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57200" y="3931920"/>
            <a:ext cx="101600" cy="2286000"/>
          </a:xfrm>
          <a:prstGeom prst="rect">
            <a:avLst/>
          </a:prstGeom>
          <a:solidFill>
            <a:srgbClr val="4FC1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31520" y="4069080"/>
            <a:ext cx="10972800" cy="411480"/>
          </a:xfrm>
          <a:prstGeom prst="rect">
            <a:avLst/>
          </a:prstGeom>
          <a:noFill/>
        </p:spPr>
        <p:txBody>
          <a:bodyPr wrap="square" anchor="t" tIns="0" bIns="0" lIns="25400" rIns="2540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600" b="1">
                <a:solidFill>
                  <a:srgbClr val="4FC17A"/>
                </a:solidFill>
                <a:latin typeface="Microsoft JhengHei"/>
              </a:rPr>
              <a:t>🎉 出現你的網頁 = 正式上線成功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1520" y="4572000"/>
            <a:ext cx="10881360" cy="1554480"/>
          </a:xfrm>
          <a:prstGeom prst="rect">
            <a:avLst/>
          </a:prstGeom>
          <a:noFill/>
        </p:spPr>
        <p:txBody>
          <a:bodyPr wrap="square" anchor="t" tIns="0" bIns="0" lIns="25400" rIns="25400">
            <a:spAutoFit/>
          </a:bodyPr>
          <a:lstStyle/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300" b="0">
                <a:solidFill>
                  <a:srgbClr val="C9CFD8"/>
                </a:solidFill>
                <a:latin typeface="Microsoft JhengHei"/>
              </a:rPr>
              <a:t>這時可以關掉所有 PowerShell 視窗、關 IIS 管理員、甚至登出 Windows，網站都照跑。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300" b="0">
                <a:solidFill>
                  <a:srgbClr val="C9CFD8"/>
                </a:solidFill>
                <a:latin typeface="Microsoft JhengHei"/>
              </a:rPr>
              <a:t>重開機後也會自動啟動（因為 AppPool 設了 AlwaysRunning）。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300" b="0">
                <a:solidFill>
                  <a:srgbClr val="C9CFD8"/>
                </a:solidFill>
                <a:latin typeface="Microsoft JhengHei"/>
              </a:rPr>
              <a:t>收尾：測 AD SSO 認得出工號、移除任何 /debug 測試路由。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12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960120"/>
          </a:xfrm>
          <a:prstGeom prst="rect">
            <a:avLst/>
          </a:prstGeom>
          <a:solidFill>
            <a:srgbClr val="35D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28016"/>
            <a:ext cx="10058400" cy="292608"/>
          </a:xfrm>
          <a:prstGeom prst="rect">
            <a:avLst/>
          </a:prstGeom>
          <a:noFill/>
        </p:spPr>
        <p:txBody>
          <a:bodyPr wrap="square" anchor="t" tIns="0" bIns="0" lIns="25400" rIns="2540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35D0E6"/>
                </a:solidFill>
                <a:latin typeface="Microsoft JhengHei"/>
              </a:rPr>
              <a:t>TROUBLESHOOT ‧ 速查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84048"/>
            <a:ext cx="10241280" cy="548640"/>
          </a:xfrm>
          <a:prstGeom prst="rect">
            <a:avLst/>
          </a:prstGeom>
          <a:noFill/>
        </p:spPr>
        <p:txBody>
          <a:bodyPr wrap="square" anchor="t" tIns="0" bIns="0" lIns="25400" rIns="2540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2600" b="1">
                <a:solidFill>
                  <a:srgbClr val="FFFFFF"/>
                </a:solidFill>
                <a:latin typeface="Microsoft JhengHei"/>
              </a:rPr>
              <a:t>常見錯誤速查表（本次實戰）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98480" y="274320"/>
            <a:ext cx="1188720" cy="457200"/>
          </a:xfrm>
          <a:prstGeom prst="rect">
            <a:avLst/>
          </a:prstGeom>
          <a:noFill/>
        </p:spPr>
        <p:txBody>
          <a:bodyPr wrap="square" anchor="t" tIns="0" bIns="0" lIns="25400" rIns="25400">
            <a:spAutoFit/>
          </a:bodyPr>
          <a:lstStyle/>
          <a:p>
            <a:pPr algn="r"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8A93A1"/>
                </a:solidFill>
                <a:latin typeface="Microsoft JhengHei"/>
              </a:rPr>
              <a:t>PAGE 11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987552"/>
            <a:ext cx="11274552" cy="25400"/>
          </a:xfrm>
          <a:prstGeom prst="rect">
            <a:avLst/>
          </a:prstGeom>
          <a:solidFill>
            <a:srgbClr val="2A2F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234440"/>
            <a:ext cx="11274552" cy="384048"/>
          </a:xfrm>
          <a:prstGeom prst="rect">
            <a:avLst/>
          </a:prstGeom>
          <a:solidFill>
            <a:srgbClr val="2A2F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1234440"/>
            <a:ext cx="3200400" cy="384048"/>
          </a:xfrm>
          <a:prstGeom prst="rect">
            <a:avLst/>
          </a:prstGeom>
          <a:noFill/>
        </p:spPr>
        <p:txBody>
          <a:bodyPr wrap="square" anchor="ctr" tIns="0" bIns="0" lIns="25400" rIns="2540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50" b="1">
                <a:solidFill>
                  <a:srgbClr val="35D0E6"/>
                </a:solidFill>
                <a:latin typeface="Microsoft JhengHei"/>
              </a:rPr>
              <a:t>現象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0" y="1234440"/>
            <a:ext cx="3291840" cy="384048"/>
          </a:xfrm>
          <a:prstGeom prst="rect">
            <a:avLst/>
          </a:prstGeom>
          <a:noFill/>
        </p:spPr>
        <p:txBody>
          <a:bodyPr wrap="square" anchor="ctr" tIns="0" bIns="0" lIns="25400" rIns="2540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50" b="1">
                <a:solidFill>
                  <a:srgbClr val="35D0E6"/>
                </a:solidFill>
                <a:latin typeface="Microsoft JhengHei"/>
              </a:rPr>
              <a:t>原因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223760" y="1234440"/>
            <a:ext cx="4389120" cy="384048"/>
          </a:xfrm>
          <a:prstGeom prst="rect">
            <a:avLst/>
          </a:prstGeom>
          <a:noFill/>
        </p:spPr>
        <p:txBody>
          <a:bodyPr wrap="square" anchor="ctr" tIns="0" bIns="0" lIns="25400" rIns="2540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50" b="1">
                <a:solidFill>
                  <a:srgbClr val="35D0E6"/>
                </a:solidFill>
                <a:latin typeface="Microsoft JhengHei"/>
              </a:rPr>
              <a:t>解法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1618488"/>
            <a:ext cx="11274552" cy="393192"/>
          </a:xfrm>
          <a:prstGeom prst="rect">
            <a:avLst/>
          </a:prstGeom>
          <a:solidFill>
            <a:srgbClr val="1B1F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" y="1618488"/>
            <a:ext cx="3200400" cy="393192"/>
          </a:xfrm>
          <a:prstGeom prst="rect">
            <a:avLst/>
          </a:prstGeom>
          <a:noFill/>
        </p:spPr>
        <p:txBody>
          <a:bodyPr wrap="square" anchor="ctr" tIns="0" bIns="0" lIns="25400" rIns="2540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FFFFFF"/>
                </a:solidFill>
                <a:latin typeface="Microsoft JhengHei"/>
              </a:rPr>
              <a:t>407 Proxy authentication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840480" y="1618488"/>
            <a:ext cx="3291840" cy="393192"/>
          </a:xfrm>
          <a:prstGeom prst="rect">
            <a:avLst/>
          </a:prstGeom>
          <a:noFill/>
        </p:spPr>
        <p:txBody>
          <a:bodyPr wrap="square" anchor="ctr" tIns="0" bIns="0" lIns="25400" rIns="2540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C9CFD8"/>
                </a:solidFill>
                <a:latin typeface="Microsoft JhengHei"/>
              </a:rPr>
              <a:t>公司 proxy 擋 pip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23760" y="1618488"/>
            <a:ext cx="4389120" cy="393192"/>
          </a:xfrm>
          <a:prstGeom prst="rect">
            <a:avLst/>
          </a:prstGeom>
          <a:noFill/>
        </p:spPr>
        <p:txBody>
          <a:bodyPr wrap="square" anchor="ctr" tIns="0" bIns="0" lIns="25400" rIns="2540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4FC17A"/>
                </a:solidFill>
                <a:latin typeface="Microsoft JhengHei"/>
              </a:rPr>
              <a:t>pip download 加 --proxy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2011680"/>
            <a:ext cx="3200400" cy="393192"/>
          </a:xfrm>
          <a:prstGeom prst="rect">
            <a:avLst/>
          </a:prstGeom>
          <a:noFill/>
        </p:spPr>
        <p:txBody>
          <a:bodyPr wrap="square" anchor="ctr" tIns="0" bIns="0" lIns="25400" rIns="2540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FFFFFF"/>
                </a:solidFill>
                <a:latin typeface="Microsoft JhengHei"/>
              </a:rPr>
              <a:t>PowerShell 出現 &gt;&gt;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840480" y="2011680"/>
            <a:ext cx="3291840" cy="393192"/>
          </a:xfrm>
          <a:prstGeom prst="rect">
            <a:avLst/>
          </a:prstGeom>
          <a:noFill/>
        </p:spPr>
        <p:txBody>
          <a:bodyPr wrap="square" anchor="ctr" tIns="0" bIns="0" lIns="25400" rIns="2540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C9CFD8"/>
                </a:solidFill>
                <a:latin typeface="Microsoft JhengHei"/>
              </a:rPr>
              <a:t>引號沒閉合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223760" y="2011680"/>
            <a:ext cx="4389120" cy="393192"/>
          </a:xfrm>
          <a:prstGeom prst="rect">
            <a:avLst/>
          </a:prstGeom>
          <a:noFill/>
        </p:spPr>
        <p:txBody>
          <a:bodyPr wrap="square" anchor="ctr" tIns="0" bIns="0" lIns="25400" rIns="2540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4FC17A"/>
                </a:solidFill>
                <a:latin typeface="Microsoft JhengHei"/>
              </a:rPr>
              <a:t>Ctrl+C，整行重打、引號成對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2404872"/>
            <a:ext cx="11274552" cy="393192"/>
          </a:xfrm>
          <a:prstGeom prst="rect">
            <a:avLst/>
          </a:prstGeom>
          <a:solidFill>
            <a:srgbClr val="1B1F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48640" y="2404872"/>
            <a:ext cx="3200400" cy="393192"/>
          </a:xfrm>
          <a:prstGeom prst="rect">
            <a:avLst/>
          </a:prstGeom>
          <a:noFill/>
        </p:spPr>
        <p:txBody>
          <a:bodyPr wrap="square" anchor="ctr" tIns="0" bIns="0" lIns="25400" rIns="2540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FFFFFF"/>
                </a:solidFill>
                <a:latin typeface="Microsoft JhengHei"/>
              </a:rPr>
              <a:t>No matching distribution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840480" y="2404872"/>
            <a:ext cx="3291840" cy="393192"/>
          </a:xfrm>
          <a:prstGeom prst="rect">
            <a:avLst/>
          </a:prstGeom>
          <a:noFill/>
        </p:spPr>
        <p:txBody>
          <a:bodyPr wrap="square" anchor="ctr" tIns="0" bIns="0" lIns="25400" rIns="2540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C9CFD8"/>
                </a:solidFill>
                <a:latin typeface="Microsoft JhengHei"/>
              </a:rPr>
              <a:t>wheels 版本 ≠ venv 版本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223760" y="2404872"/>
            <a:ext cx="4389120" cy="393192"/>
          </a:xfrm>
          <a:prstGeom prst="rect">
            <a:avLst/>
          </a:prstGeom>
          <a:noFill/>
        </p:spPr>
        <p:txBody>
          <a:bodyPr wrap="square" anchor="ctr" tIns="0" bIns="0" lIns="25400" rIns="2540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4FC17A"/>
                </a:solidFill>
                <a:latin typeface="Microsoft JhengHei"/>
              </a:rPr>
              <a:t>查 venv 版本，重抓對應 wheels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2798064"/>
            <a:ext cx="3200400" cy="393192"/>
          </a:xfrm>
          <a:prstGeom prst="rect">
            <a:avLst/>
          </a:prstGeom>
          <a:noFill/>
        </p:spPr>
        <p:txBody>
          <a:bodyPr wrap="square" anchor="ctr" tIns="0" bIns="0" lIns="25400" rIns="2540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FFFFFF"/>
                </a:solidFill>
                <a:latin typeface="Microsoft JhengHei"/>
              </a:rPr>
              <a:t>waitress-serve.exe 不存在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840480" y="2798064"/>
            <a:ext cx="3291840" cy="393192"/>
          </a:xfrm>
          <a:prstGeom prst="rect">
            <a:avLst/>
          </a:prstGeom>
          <a:noFill/>
        </p:spPr>
        <p:txBody>
          <a:bodyPr wrap="square" anchor="ctr" tIns="0" bIns="0" lIns="25400" rIns="2540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C9CFD8"/>
                </a:solidFill>
                <a:latin typeface="Microsoft JhengHei"/>
              </a:rPr>
              <a:t>requirements 漏 waitress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223760" y="2798064"/>
            <a:ext cx="4389120" cy="393192"/>
          </a:xfrm>
          <a:prstGeom prst="rect">
            <a:avLst/>
          </a:prstGeom>
          <a:noFill/>
        </p:spPr>
        <p:txBody>
          <a:bodyPr wrap="square" anchor="ctr" tIns="0" bIns="0" lIns="25400" rIns="2540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4FC17A"/>
                </a:solidFill>
                <a:latin typeface="Microsoft JhengHei"/>
              </a:rPr>
              <a:t>補上、重跑 pip install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57200" y="3191256"/>
            <a:ext cx="11274552" cy="393192"/>
          </a:xfrm>
          <a:prstGeom prst="rect">
            <a:avLst/>
          </a:prstGeom>
          <a:solidFill>
            <a:srgbClr val="1B1F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48640" y="3191256"/>
            <a:ext cx="3200400" cy="393192"/>
          </a:xfrm>
          <a:prstGeom prst="rect">
            <a:avLst/>
          </a:prstGeom>
          <a:noFill/>
        </p:spPr>
        <p:txBody>
          <a:bodyPr wrap="square" anchor="ctr" tIns="0" bIns="0" lIns="25400" rIns="2540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FFFFFF"/>
                </a:solidFill>
                <a:latin typeface="Microsoft JhengHei"/>
              </a:rPr>
              <a:t>Fatal error in launcher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840480" y="3191256"/>
            <a:ext cx="3291840" cy="393192"/>
          </a:xfrm>
          <a:prstGeom prst="rect">
            <a:avLst/>
          </a:prstGeom>
          <a:noFill/>
        </p:spPr>
        <p:txBody>
          <a:bodyPr wrap="square" anchor="ctr" tIns="0" bIns="0" lIns="25400" rIns="2540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C9CFD8"/>
                </a:solidFill>
                <a:latin typeface="Microsoft JhengHei"/>
              </a:rPr>
              <a:t>venv 從別處複製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223760" y="3191256"/>
            <a:ext cx="4389120" cy="393192"/>
          </a:xfrm>
          <a:prstGeom prst="rect">
            <a:avLst/>
          </a:prstGeom>
          <a:noFill/>
        </p:spPr>
        <p:txBody>
          <a:bodyPr wrap="square" anchor="ctr" tIns="0" bIns="0" lIns="25400" rIns="2540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4FC17A"/>
                </a:solidFill>
                <a:latin typeface="Microsoft JhengHei"/>
              </a:rPr>
              <a:t>刪 venv，最終路徑重建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48640" y="3584448"/>
            <a:ext cx="3200400" cy="393192"/>
          </a:xfrm>
          <a:prstGeom prst="rect">
            <a:avLst/>
          </a:prstGeom>
          <a:noFill/>
        </p:spPr>
        <p:txBody>
          <a:bodyPr wrap="square" anchor="ctr" tIns="0" bIns="0" lIns="25400" rIns="2540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FFFFFF"/>
                </a:solidFill>
                <a:latin typeface="Microsoft JhengHei"/>
              </a:rPr>
              <a:t>web.config 父系鎖定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840480" y="3584448"/>
            <a:ext cx="3291840" cy="393192"/>
          </a:xfrm>
          <a:prstGeom prst="rect">
            <a:avLst/>
          </a:prstGeom>
          <a:noFill/>
        </p:spPr>
        <p:txBody>
          <a:bodyPr wrap="square" anchor="ctr" tIns="0" bIns="0" lIns="25400" rIns="2540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C9CFD8"/>
                </a:solidFill>
                <a:latin typeface="Microsoft JhengHei"/>
              </a:rPr>
              <a:t>&lt;authentication&gt; 被鎖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223760" y="3584448"/>
            <a:ext cx="4389120" cy="393192"/>
          </a:xfrm>
          <a:prstGeom prst="rect">
            <a:avLst/>
          </a:prstGeom>
          <a:noFill/>
        </p:spPr>
        <p:txBody>
          <a:bodyPr wrap="square" anchor="ctr" tIns="0" bIns="0" lIns="25400" rIns="2540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4FC17A"/>
                </a:solidFill>
                <a:latin typeface="Microsoft JhengHei"/>
              </a:rPr>
              <a:t>拿掉該段，改 IIS 畫面設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57200" y="3977640"/>
            <a:ext cx="11274552" cy="393192"/>
          </a:xfrm>
          <a:prstGeom prst="rect">
            <a:avLst/>
          </a:prstGeom>
          <a:solidFill>
            <a:srgbClr val="1B1F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48640" y="3977640"/>
            <a:ext cx="3200400" cy="393192"/>
          </a:xfrm>
          <a:prstGeom prst="rect">
            <a:avLst/>
          </a:prstGeom>
          <a:noFill/>
        </p:spPr>
        <p:txBody>
          <a:bodyPr wrap="square" anchor="ctr" tIns="0" bIns="0" lIns="25400" rIns="2540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FFFFFF"/>
                </a:solidFill>
                <a:latin typeface="Microsoft JhengHei"/>
              </a:rPr>
              <a:t>500（log 沒生成）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840480" y="3977640"/>
            <a:ext cx="3291840" cy="393192"/>
          </a:xfrm>
          <a:prstGeom prst="rect">
            <a:avLst/>
          </a:prstGeom>
          <a:noFill/>
        </p:spPr>
        <p:txBody>
          <a:bodyPr wrap="square" anchor="ctr" tIns="0" bIns="0" lIns="25400" rIns="2540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C9CFD8"/>
                </a:solidFill>
                <a:latin typeface="Microsoft JhengHei"/>
              </a:rPr>
              <a:t>web.config 含了 @'/Set-Content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223760" y="3977640"/>
            <a:ext cx="4389120" cy="393192"/>
          </a:xfrm>
          <a:prstGeom prst="rect">
            <a:avLst/>
          </a:prstGeom>
          <a:noFill/>
        </p:spPr>
        <p:txBody>
          <a:bodyPr wrap="square" anchor="ctr" tIns="0" bIns="0" lIns="25400" rIns="2540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4FC17A"/>
                </a:solidFill>
                <a:latin typeface="Microsoft JhengHei"/>
              </a:rPr>
              <a:t>記事本重存純 XML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48640" y="4370832"/>
            <a:ext cx="3200400" cy="393192"/>
          </a:xfrm>
          <a:prstGeom prst="rect">
            <a:avLst/>
          </a:prstGeom>
          <a:noFill/>
        </p:spPr>
        <p:txBody>
          <a:bodyPr wrap="square" anchor="ctr" tIns="0" bIns="0" lIns="25400" rIns="2540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FFFFFF"/>
                </a:solidFill>
                <a:latin typeface="Microsoft JhengHei"/>
              </a:rPr>
              <a:t>500（手動跑卻 OK）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840480" y="4370832"/>
            <a:ext cx="3291840" cy="393192"/>
          </a:xfrm>
          <a:prstGeom prst="rect">
            <a:avLst/>
          </a:prstGeom>
          <a:noFill/>
        </p:spPr>
        <p:txBody>
          <a:bodyPr wrap="square" anchor="ctr" tIns="0" bIns="0" lIns="25400" rIns="2540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C9CFD8"/>
                </a:solidFill>
                <a:latin typeface="Microsoft JhengHei"/>
              </a:rPr>
              <a:t>AppPool 帳號沒權限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223760" y="4370832"/>
            <a:ext cx="4389120" cy="393192"/>
          </a:xfrm>
          <a:prstGeom prst="rect">
            <a:avLst/>
          </a:prstGeom>
          <a:noFill/>
        </p:spPr>
        <p:txBody>
          <a:bodyPr wrap="square" anchor="ctr" tIns="0" bIns="0" lIns="25400" rIns="2540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4FC17A"/>
                </a:solidFill>
                <a:latin typeface="Microsoft JhengHei"/>
              </a:rPr>
              <a:t>icacls 給 RX / M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57200" y="4764024"/>
            <a:ext cx="11274552" cy="393192"/>
          </a:xfrm>
          <a:prstGeom prst="rect">
            <a:avLst/>
          </a:prstGeom>
          <a:solidFill>
            <a:srgbClr val="1B1F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48640" y="4764024"/>
            <a:ext cx="3200400" cy="393192"/>
          </a:xfrm>
          <a:prstGeom prst="rect">
            <a:avLst/>
          </a:prstGeom>
          <a:noFill/>
        </p:spPr>
        <p:txBody>
          <a:bodyPr wrap="square" anchor="ctr" tIns="0" bIns="0" lIns="25400" rIns="2540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FFFFFF"/>
                </a:solidFill>
                <a:latin typeface="Microsoft JhengHei"/>
              </a:rPr>
              <a:t>400 Invalid Hostname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840480" y="4764024"/>
            <a:ext cx="3291840" cy="393192"/>
          </a:xfrm>
          <a:prstGeom prst="rect">
            <a:avLst/>
          </a:prstGeom>
          <a:noFill/>
        </p:spPr>
        <p:txBody>
          <a:bodyPr wrap="square" anchor="ctr" tIns="0" bIns="0" lIns="25400" rIns="2540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C9CFD8"/>
                </a:solidFill>
                <a:latin typeface="Microsoft JhengHei"/>
              </a:rPr>
              <a:t>綁特定 IP 卻用 localhost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223760" y="4764024"/>
            <a:ext cx="4389120" cy="393192"/>
          </a:xfrm>
          <a:prstGeom prst="rect">
            <a:avLst/>
          </a:prstGeom>
          <a:noFill/>
        </p:spPr>
        <p:txBody>
          <a:bodyPr wrap="square" anchor="ctr" tIns="0" bIns="0" lIns="25400" rIns="2540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4FC17A"/>
                </a:solidFill>
                <a:latin typeface="Microsoft JhengHei"/>
              </a:rPr>
              <a:t>改用該 IP，或繫結改 *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48640" y="5157216"/>
            <a:ext cx="3200400" cy="393192"/>
          </a:xfrm>
          <a:prstGeom prst="rect">
            <a:avLst/>
          </a:prstGeom>
          <a:noFill/>
        </p:spPr>
        <p:txBody>
          <a:bodyPr wrap="square" anchor="ctr" tIns="0" bIns="0" lIns="25400" rIns="2540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FFFFFF"/>
                </a:solidFill>
                <a:latin typeface="Microsoft JhengHei"/>
              </a:rPr>
              <a:t>500.19 (0x80070021)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840480" y="5157216"/>
            <a:ext cx="3291840" cy="393192"/>
          </a:xfrm>
          <a:prstGeom prst="rect">
            <a:avLst/>
          </a:prstGeom>
          <a:noFill/>
        </p:spPr>
        <p:txBody>
          <a:bodyPr wrap="square" anchor="ctr" tIns="0" bIns="0" lIns="25400" rIns="2540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C9CFD8"/>
                </a:solidFill>
                <a:latin typeface="Microsoft JhengHei"/>
              </a:rPr>
              <a:t>模組沒裝 / 區段被鎖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223760" y="5157216"/>
            <a:ext cx="4389120" cy="393192"/>
          </a:xfrm>
          <a:prstGeom prst="rect">
            <a:avLst/>
          </a:prstGeom>
          <a:noFill/>
        </p:spPr>
        <p:txBody>
          <a:bodyPr wrap="square" anchor="ctr" tIns="0" bIns="0" lIns="25400" rIns="2540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4FC17A"/>
                </a:solidFill>
                <a:latin typeface="Microsoft JhengHei"/>
              </a:rPr>
              <a:t>查模組→重裝MSI / appcmd unlock</a:t>
            </a:r>
          </a:p>
        </p:txBody>
      </p:sp>
      <p:sp>
        <p:nvSpPr>
          <p:cNvPr id="47" name="Rectangle 46"/>
          <p:cNvSpPr/>
          <p:nvPr/>
        </p:nvSpPr>
        <p:spPr>
          <a:xfrm>
            <a:off x="457200" y="5550408"/>
            <a:ext cx="11274552" cy="393192"/>
          </a:xfrm>
          <a:prstGeom prst="rect">
            <a:avLst/>
          </a:prstGeom>
          <a:solidFill>
            <a:srgbClr val="1B1F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548640" y="5550408"/>
            <a:ext cx="3200400" cy="393192"/>
          </a:xfrm>
          <a:prstGeom prst="rect">
            <a:avLst/>
          </a:prstGeom>
          <a:noFill/>
        </p:spPr>
        <p:txBody>
          <a:bodyPr wrap="square" anchor="ctr" tIns="0" bIns="0" lIns="25400" rIns="2540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FFFFFF"/>
                </a:solidFill>
                <a:latin typeface="Microsoft JhengHei"/>
              </a:rPr>
              <a:t>502 Bad Gateway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3840480" y="5550408"/>
            <a:ext cx="3291840" cy="393192"/>
          </a:xfrm>
          <a:prstGeom prst="rect">
            <a:avLst/>
          </a:prstGeom>
          <a:noFill/>
        </p:spPr>
        <p:txBody>
          <a:bodyPr wrap="square" anchor="ctr" tIns="0" bIns="0" lIns="25400" rIns="2540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C9CFD8"/>
                </a:solidFill>
                <a:latin typeface="Microsoft JhengHei"/>
              </a:rPr>
              <a:t>waitress 路徑錯/崩潰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223760" y="5550408"/>
            <a:ext cx="4389120" cy="393192"/>
          </a:xfrm>
          <a:prstGeom prst="rect">
            <a:avLst/>
          </a:prstGeom>
          <a:noFill/>
        </p:spPr>
        <p:txBody>
          <a:bodyPr wrap="square" anchor="ctr" tIns="0" bIns="0" lIns="25400" rIns="2540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4FC17A"/>
                </a:solidFill>
                <a:latin typeface="Microsoft JhengHei"/>
              </a:rPr>
              <a:t>看 log，檢查 processPath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48640" y="5943600"/>
            <a:ext cx="3200400" cy="393192"/>
          </a:xfrm>
          <a:prstGeom prst="rect">
            <a:avLst/>
          </a:prstGeom>
          <a:noFill/>
        </p:spPr>
        <p:txBody>
          <a:bodyPr wrap="square" anchor="ctr" tIns="0" bIns="0" lIns="25400" rIns="2540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FFFFFF"/>
                </a:solidFill>
                <a:latin typeface="Microsoft JhengHei"/>
              </a:rPr>
              <a:t>503 Service Unavailable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3840480" y="5943600"/>
            <a:ext cx="3291840" cy="393192"/>
          </a:xfrm>
          <a:prstGeom prst="rect">
            <a:avLst/>
          </a:prstGeom>
          <a:noFill/>
        </p:spPr>
        <p:txBody>
          <a:bodyPr wrap="square" anchor="ctr" tIns="0" bIns="0" lIns="25400" rIns="2540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C9CFD8"/>
                </a:solidFill>
                <a:latin typeface="Microsoft JhengHei"/>
              </a:rPr>
              <a:t>AppPool 停了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223760" y="5943600"/>
            <a:ext cx="4389120" cy="393192"/>
          </a:xfrm>
          <a:prstGeom prst="rect">
            <a:avLst/>
          </a:prstGeom>
          <a:noFill/>
        </p:spPr>
        <p:txBody>
          <a:bodyPr wrap="square" anchor="ctr" tIns="0" bIns="0" lIns="25400" rIns="2540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4FC17A"/>
                </a:solidFill>
                <a:latin typeface="Microsoft JhengHei"/>
              </a:rPr>
              <a:t>IIS 管理員啟動 AppPool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12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960120"/>
          </a:xfrm>
          <a:prstGeom prst="rect">
            <a:avLst/>
          </a:prstGeom>
          <a:solidFill>
            <a:srgbClr val="35D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28016"/>
            <a:ext cx="10058400" cy="292608"/>
          </a:xfrm>
          <a:prstGeom prst="rect">
            <a:avLst/>
          </a:prstGeom>
          <a:noFill/>
        </p:spPr>
        <p:txBody>
          <a:bodyPr wrap="square" anchor="t" tIns="0" bIns="0" lIns="25400" rIns="2540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35D0E6"/>
                </a:solidFill>
                <a:latin typeface="Microsoft JhengHei"/>
              </a:rPr>
              <a:t>DEBUG ‧ 黃金流程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84048"/>
            <a:ext cx="10241280" cy="548640"/>
          </a:xfrm>
          <a:prstGeom prst="rect">
            <a:avLst/>
          </a:prstGeom>
          <a:noFill/>
        </p:spPr>
        <p:txBody>
          <a:bodyPr wrap="square" anchor="t" tIns="0" bIns="0" lIns="25400" rIns="2540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2600" b="1">
                <a:solidFill>
                  <a:srgbClr val="FFFFFF"/>
                </a:solidFill>
                <a:latin typeface="Microsoft JhengHei"/>
              </a:rPr>
              <a:t>卡關時，照這四步找真兇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98480" y="274320"/>
            <a:ext cx="1188720" cy="457200"/>
          </a:xfrm>
          <a:prstGeom prst="rect">
            <a:avLst/>
          </a:prstGeom>
          <a:noFill/>
        </p:spPr>
        <p:txBody>
          <a:bodyPr wrap="square" anchor="t" tIns="0" bIns="0" lIns="25400" rIns="25400">
            <a:spAutoFit/>
          </a:bodyPr>
          <a:lstStyle/>
          <a:p>
            <a:pPr algn="r"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8A93A1"/>
                </a:solidFill>
                <a:latin typeface="Microsoft JhengHei"/>
              </a:rPr>
              <a:t>PAGE 12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987552"/>
            <a:ext cx="11274552" cy="25400"/>
          </a:xfrm>
          <a:prstGeom prst="rect">
            <a:avLst/>
          </a:prstGeom>
          <a:solidFill>
            <a:srgbClr val="2A2F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371600"/>
            <a:ext cx="11274552" cy="841248"/>
          </a:xfrm>
          <a:prstGeom prst="rect">
            <a:avLst/>
          </a:prstGeom>
          <a:solidFill>
            <a:srgbClr val="1B1F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1371600"/>
            <a:ext cx="101600" cy="841248"/>
          </a:xfrm>
          <a:prstGeom prst="rect">
            <a:avLst/>
          </a:prstGeom>
          <a:solidFill>
            <a:srgbClr val="3E8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685800" y="1563624"/>
            <a:ext cx="457200" cy="457200"/>
          </a:xfrm>
          <a:prstGeom prst="ellipse">
            <a:avLst/>
          </a:prstGeom>
          <a:solidFill>
            <a:srgbClr val="3E8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1563624"/>
            <a:ext cx="457200" cy="457200"/>
          </a:xfrm>
          <a:prstGeom prst="rect">
            <a:avLst/>
          </a:prstGeom>
          <a:noFill/>
        </p:spPr>
        <p:txBody>
          <a:bodyPr wrap="square" anchor="ctr" tIns="0" bIns="0" lIns="25400" rIns="2540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800" b="1">
                <a:solidFill>
                  <a:srgbClr val="101216"/>
                </a:solidFill>
                <a:latin typeface="Microsoft JhengHei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1481328"/>
            <a:ext cx="3657600" cy="365760"/>
          </a:xfrm>
          <a:prstGeom prst="rect">
            <a:avLst/>
          </a:prstGeom>
          <a:noFill/>
        </p:spPr>
        <p:txBody>
          <a:bodyPr wrap="square" anchor="t" tIns="0" bIns="0" lIns="25400" rIns="2540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400" b="1">
                <a:solidFill>
                  <a:srgbClr val="FFFFFF"/>
                </a:solidFill>
                <a:latin typeface="Microsoft JhengHei"/>
              </a:rPr>
              <a:t>先手動跑，繞過 IIS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1828800"/>
            <a:ext cx="3657600" cy="320040"/>
          </a:xfrm>
          <a:prstGeom prst="rect">
            <a:avLst/>
          </a:prstGeom>
          <a:noFill/>
        </p:spPr>
        <p:txBody>
          <a:bodyPr wrap="square" anchor="t" tIns="0" bIns="0" lIns="25400" rIns="2540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8A93A1"/>
                </a:solidFill>
                <a:latin typeface="Microsoft JhengHei"/>
              </a:rPr>
              <a:t>看 Python 真正的錯誤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120640" y="1572768"/>
            <a:ext cx="6400800" cy="457200"/>
          </a:xfrm>
          <a:prstGeom prst="rect">
            <a:avLst/>
          </a:prstGeom>
          <a:solidFill>
            <a:srgbClr val="0C0E12"/>
          </a:solidFill>
          <a:ln w="12700">
            <a:solidFill>
              <a:srgbClr val="2A2F3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257800" y="1572768"/>
            <a:ext cx="6217920" cy="457200"/>
          </a:xfrm>
          <a:prstGeom prst="rect">
            <a:avLst/>
          </a:prstGeom>
          <a:noFill/>
        </p:spPr>
        <p:txBody>
          <a:bodyPr wrap="square" anchor="ctr" tIns="0" bIns="0" lIns="25400" rIns="2540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50" b="0">
                <a:solidFill>
                  <a:srgbClr val="9CDCFE"/>
                </a:solidFill>
                <a:latin typeface="Consolas"/>
              </a:rPr>
              <a:t>python.exe -c "import wsgi; print('OK')"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2331720"/>
            <a:ext cx="11274552" cy="841248"/>
          </a:xfrm>
          <a:prstGeom prst="rect">
            <a:avLst/>
          </a:prstGeom>
          <a:solidFill>
            <a:srgbClr val="1B1F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57200" y="2331720"/>
            <a:ext cx="101600" cy="841248"/>
          </a:xfrm>
          <a:prstGeom prst="rect">
            <a:avLst/>
          </a:prstGeom>
          <a:solidFill>
            <a:srgbClr val="35D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85800" y="2523744"/>
            <a:ext cx="457200" cy="457200"/>
          </a:xfrm>
          <a:prstGeom prst="ellipse">
            <a:avLst/>
          </a:prstGeom>
          <a:solidFill>
            <a:srgbClr val="35D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2523744"/>
            <a:ext cx="457200" cy="457200"/>
          </a:xfrm>
          <a:prstGeom prst="rect">
            <a:avLst/>
          </a:prstGeom>
          <a:noFill/>
        </p:spPr>
        <p:txBody>
          <a:bodyPr wrap="square" anchor="ctr" tIns="0" bIns="0" lIns="25400" rIns="2540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800" b="1">
                <a:solidFill>
                  <a:srgbClr val="101216"/>
                </a:solidFill>
                <a:latin typeface="Microsoft JhengHei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71600" y="2441448"/>
            <a:ext cx="3657600" cy="365760"/>
          </a:xfrm>
          <a:prstGeom prst="rect">
            <a:avLst/>
          </a:prstGeom>
          <a:noFill/>
        </p:spPr>
        <p:txBody>
          <a:bodyPr wrap="square" anchor="t" tIns="0" bIns="0" lIns="25400" rIns="2540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400" b="1">
                <a:solidFill>
                  <a:srgbClr val="FFFFFF"/>
                </a:solidFill>
                <a:latin typeface="Microsoft JhengHei"/>
              </a:rPr>
              <a:t>模擬 IIS 環境啟動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71600" y="2788920"/>
            <a:ext cx="3657600" cy="320040"/>
          </a:xfrm>
          <a:prstGeom prst="rect">
            <a:avLst/>
          </a:prstGeom>
          <a:noFill/>
        </p:spPr>
        <p:txBody>
          <a:bodyPr wrap="square" anchor="t" tIns="0" bIns="0" lIns="25400" rIns="2540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8A93A1"/>
                </a:solidFill>
                <a:latin typeface="Microsoft JhengHei"/>
              </a:rPr>
              <a:t>能開→純 IIS 問題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120640" y="2532888"/>
            <a:ext cx="6400800" cy="457200"/>
          </a:xfrm>
          <a:prstGeom prst="rect">
            <a:avLst/>
          </a:prstGeom>
          <a:solidFill>
            <a:srgbClr val="0C0E12"/>
          </a:solidFill>
          <a:ln w="12700">
            <a:solidFill>
              <a:srgbClr val="2A2F3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257800" y="2532888"/>
            <a:ext cx="6217920" cy="457200"/>
          </a:xfrm>
          <a:prstGeom prst="rect">
            <a:avLst/>
          </a:prstGeom>
          <a:noFill/>
        </p:spPr>
        <p:txBody>
          <a:bodyPr wrap="square" anchor="ctr" tIns="0" bIns="0" lIns="25400" rIns="2540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50" b="0">
                <a:solidFill>
                  <a:srgbClr val="9CDCFE"/>
                </a:solidFill>
                <a:latin typeface="Consolas"/>
              </a:rPr>
              <a:t>waitress-serve.exe --port=8003 wsgi:application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7200" y="3291840"/>
            <a:ext cx="11274552" cy="841248"/>
          </a:xfrm>
          <a:prstGeom prst="rect">
            <a:avLst/>
          </a:prstGeom>
          <a:solidFill>
            <a:srgbClr val="1B1F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57200" y="3291840"/>
            <a:ext cx="101600" cy="841248"/>
          </a:xfrm>
          <a:prstGeom prst="rect">
            <a:avLst/>
          </a:prstGeom>
          <a:solidFill>
            <a:srgbClr val="E7B4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685800" y="3483864"/>
            <a:ext cx="457200" cy="457200"/>
          </a:xfrm>
          <a:prstGeom prst="ellipse">
            <a:avLst/>
          </a:prstGeom>
          <a:solidFill>
            <a:srgbClr val="E7B4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85800" y="3483864"/>
            <a:ext cx="457200" cy="457200"/>
          </a:xfrm>
          <a:prstGeom prst="rect">
            <a:avLst/>
          </a:prstGeom>
          <a:noFill/>
        </p:spPr>
        <p:txBody>
          <a:bodyPr wrap="square" anchor="ctr" tIns="0" bIns="0" lIns="25400" rIns="2540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800" b="1">
                <a:solidFill>
                  <a:srgbClr val="101216"/>
                </a:solidFill>
                <a:latin typeface="Microsoft JhengHei"/>
              </a:rPr>
              <a:t>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71600" y="3401568"/>
            <a:ext cx="3657600" cy="365760"/>
          </a:xfrm>
          <a:prstGeom prst="rect">
            <a:avLst/>
          </a:prstGeom>
          <a:noFill/>
        </p:spPr>
        <p:txBody>
          <a:bodyPr wrap="square" anchor="t" tIns="0" bIns="0" lIns="25400" rIns="2540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400" b="1">
                <a:solidFill>
                  <a:srgbClr val="FFFFFF"/>
                </a:solidFill>
                <a:latin typeface="Microsoft JhengHei"/>
              </a:rPr>
              <a:t>看 IIS 啟動失敗紀錄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371600" y="3749040"/>
            <a:ext cx="3657600" cy="320040"/>
          </a:xfrm>
          <a:prstGeom prst="rect">
            <a:avLst/>
          </a:prstGeom>
          <a:noFill/>
        </p:spPr>
        <p:txBody>
          <a:bodyPr wrap="square" anchor="t" tIns="0" bIns="0" lIns="25400" rIns="2540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8A93A1"/>
                </a:solidFill>
                <a:latin typeface="Microsoft JhengHei"/>
              </a:rPr>
              <a:t>事件檢視器找原因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120640" y="3493008"/>
            <a:ext cx="6400800" cy="457200"/>
          </a:xfrm>
          <a:prstGeom prst="rect">
            <a:avLst/>
          </a:prstGeom>
          <a:solidFill>
            <a:srgbClr val="0C0E12"/>
          </a:solidFill>
          <a:ln w="12700">
            <a:solidFill>
              <a:srgbClr val="2A2F3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257800" y="3493008"/>
            <a:ext cx="6217920" cy="457200"/>
          </a:xfrm>
          <a:prstGeom prst="rect">
            <a:avLst/>
          </a:prstGeom>
          <a:noFill/>
        </p:spPr>
        <p:txBody>
          <a:bodyPr wrap="square" anchor="ctr" tIns="0" bIns="0" lIns="25400" rIns="2540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50" b="0">
                <a:solidFill>
                  <a:srgbClr val="9CDCFE"/>
                </a:solidFill>
                <a:latin typeface="Consolas"/>
              </a:rPr>
              <a:t>Get-WinEvent -LogName Application ...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57200" y="4251960"/>
            <a:ext cx="11274552" cy="841248"/>
          </a:xfrm>
          <a:prstGeom prst="rect">
            <a:avLst/>
          </a:prstGeom>
          <a:solidFill>
            <a:srgbClr val="1B1F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457200" y="4251960"/>
            <a:ext cx="101600" cy="841248"/>
          </a:xfrm>
          <a:prstGeom prst="rect">
            <a:avLst/>
          </a:prstGeom>
          <a:solidFill>
            <a:srgbClr val="4FC1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685800" y="4443984"/>
            <a:ext cx="457200" cy="457200"/>
          </a:xfrm>
          <a:prstGeom prst="ellipse">
            <a:avLst/>
          </a:prstGeom>
          <a:solidFill>
            <a:srgbClr val="4FC1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85800" y="4443984"/>
            <a:ext cx="457200" cy="457200"/>
          </a:xfrm>
          <a:prstGeom prst="rect">
            <a:avLst/>
          </a:prstGeom>
          <a:noFill/>
        </p:spPr>
        <p:txBody>
          <a:bodyPr wrap="square" anchor="ctr" tIns="0" bIns="0" lIns="25400" rIns="2540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800" b="1">
                <a:solidFill>
                  <a:srgbClr val="101216"/>
                </a:solidFill>
                <a:latin typeface="Microsoft JhengHei"/>
              </a:rPr>
              <a:t>4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371600" y="4361688"/>
            <a:ext cx="3657600" cy="365760"/>
          </a:xfrm>
          <a:prstGeom prst="rect">
            <a:avLst/>
          </a:prstGeom>
          <a:noFill/>
        </p:spPr>
        <p:txBody>
          <a:bodyPr wrap="square" anchor="t" tIns="0" bIns="0" lIns="25400" rIns="2540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400" b="1">
                <a:solidFill>
                  <a:srgbClr val="FFFFFF"/>
                </a:solidFill>
                <a:latin typeface="Microsoft JhengHei"/>
              </a:rPr>
              <a:t>看程式 log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371600" y="4709160"/>
            <a:ext cx="3657600" cy="320040"/>
          </a:xfrm>
          <a:prstGeom prst="rect">
            <a:avLst/>
          </a:prstGeom>
          <a:noFill/>
        </p:spPr>
        <p:txBody>
          <a:bodyPr wrap="square" anchor="t" tIns="0" bIns="0" lIns="25400" rIns="2540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8A93A1"/>
                </a:solidFill>
                <a:latin typeface="Microsoft JhengHei"/>
              </a:rPr>
              <a:t>最後的真相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120640" y="4453128"/>
            <a:ext cx="6400800" cy="457200"/>
          </a:xfrm>
          <a:prstGeom prst="rect">
            <a:avLst/>
          </a:prstGeom>
          <a:solidFill>
            <a:srgbClr val="0C0E12"/>
          </a:solidFill>
          <a:ln w="12700">
            <a:solidFill>
              <a:srgbClr val="2A2F3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257800" y="4453128"/>
            <a:ext cx="6217920" cy="457200"/>
          </a:xfrm>
          <a:prstGeom prst="rect">
            <a:avLst/>
          </a:prstGeom>
          <a:noFill/>
        </p:spPr>
        <p:txBody>
          <a:bodyPr wrap="square" anchor="ctr" tIns="0" bIns="0" lIns="25400" rIns="2540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50" b="0">
                <a:solidFill>
                  <a:srgbClr val="9CDCFE"/>
                </a:solidFill>
                <a:latin typeface="Consolas"/>
              </a:rPr>
              <a:t>type "...\logs\python.log"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57200" y="5440680"/>
            <a:ext cx="11274552" cy="1097280"/>
          </a:xfrm>
          <a:prstGeom prst="rect">
            <a:avLst/>
          </a:prstGeom>
          <a:noFill/>
        </p:spPr>
        <p:txBody>
          <a:bodyPr wrap="square" anchor="t" tIns="0" bIns="0" lIns="25400" r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35D0E6"/>
                </a:solidFill>
                <a:latin typeface="Microsoft JhengHei"/>
              </a:rPr>
              <a:t>速記版流程：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150" b="0">
                <a:solidFill>
                  <a:srgbClr val="C9CFD8"/>
                </a:solidFill>
                <a:latin typeface="Microsoft JhengHei"/>
              </a:rPr>
              <a:t>有網路電腦 pip download 裝滿 wheels → 部署機建 venv 離線裝（含 waitress）→ 寫 wsgi/web.config（純內容）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150" b="0">
                <a:solidFill>
                  <a:srgbClr val="C9CFD8"/>
                </a:solidFill>
                <a:latin typeface="Microsoft JhengHei"/>
              </a:rPr>
              <a:t>→ IIS 建 AppPool+網站+驗證 → icacls 授權 → iisreset → 用正確 IP/主機名開網站 🎉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