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9144000" cy="292608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5D0E6"/>
                </a:solidFill>
                <a:latin typeface="Microsoft JhengHei"/>
              </a:rPr>
              <a:t>PROJECT PROGRESS REPORT ‧ 2026/06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058400" cy="5486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進出水平衡計算對照系統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097280" cy="45720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93A1"/>
                </a:solidFill>
                <a:latin typeface="Microsoft JhengHei"/>
              </a:rPr>
              <a:t>PAGE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74552" cy="25400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5D0E6"/>
                </a:solidFill>
                <a:latin typeface="Microsoft JhengHei"/>
              </a:rPr>
              <a:t>精確計算蒸發量 ‧ Agent 自動化平衡計算與申報整理　|　預計上線 2026/10　|　目前進度約 25%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486400" cy="18288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486400" cy="384048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5120640" cy="38404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35D0E6"/>
                </a:solidFill>
                <a:latin typeface="Microsoft JhengHei"/>
              </a:rPr>
              <a:t>專案目的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5120640" cy="12344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C9CFD8"/>
                </a:solidFill>
                <a:latin typeface="Microsoft JhengHei"/>
              </a:rPr>
              <a:t>‧ 水平衡計算：彙整進／出水資料，建立可稽核對照基準。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C9CFD8"/>
                </a:solidFill>
                <a:latin typeface="Microsoft JhengHei"/>
              </a:rPr>
              <a:t>‧ 蒸發量推算：以平衡差值精準反推蒸發量，取代估算。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C9CFD8"/>
                </a:solidFill>
                <a:latin typeface="Microsoft JhengHei"/>
              </a:rPr>
              <a:t>‧ Agent 自動化：代理執行計算並整理後續申報資料。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691640"/>
            <a:ext cx="5486400" cy="18288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691640"/>
            <a:ext cx="5486400" cy="384048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91640"/>
            <a:ext cx="5120640" cy="38404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35D0E6"/>
                </a:solidFill>
                <a:latin typeface="Microsoft JhengHei"/>
              </a:rPr>
              <a:t>專案效益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2240280"/>
            <a:ext cx="88900" cy="5029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240280"/>
            <a:ext cx="2468880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自動化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8A93A1"/>
                </a:solidFill>
                <a:latin typeface="Microsoft JhengHei"/>
              </a:rPr>
              <a:t>減少人工試算與資料搬運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5712" y="2240280"/>
            <a:ext cx="88900" cy="5029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2872" y="2240280"/>
            <a:ext cx="2468880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準確性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8A93A1"/>
                </a:solidFill>
                <a:latin typeface="Microsoft JhengHei"/>
              </a:rPr>
              <a:t>邏輯統一、結果可重現可稽核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28232" y="2843784"/>
            <a:ext cx="88900" cy="5029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843784"/>
            <a:ext cx="2468880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效率提升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8A93A1"/>
                </a:solidFill>
                <a:latin typeface="Microsoft JhengHei"/>
              </a:rPr>
              <a:t>申報資料自動彙整成型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5712" y="2843784"/>
            <a:ext cx="88900" cy="5029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872" y="2843784"/>
            <a:ext cx="2468880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可追溯／合規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8A93A1"/>
                </a:solidFill>
                <a:latin typeface="Microsoft JhengHei"/>
              </a:rPr>
              <a:t>保留計算過程供申報佐證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57600"/>
            <a:ext cx="11274552" cy="86868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730752"/>
            <a:ext cx="3657600" cy="27432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35D0E6"/>
                </a:solidFill>
                <a:latin typeface="Microsoft JhengHei"/>
              </a:rPr>
              <a:t>當前進度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69080"/>
            <a:ext cx="5486400" cy="182880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069080"/>
            <a:ext cx="1371600" cy="18288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023360"/>
            <a:ext cx="914400" cy="27432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5D0E6"/>
                </a:solidFill>
                <a:latin typeface="Microsoft JhengHei"/>
              </a:rPr>
              <a:t>約 25%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730752"/>
            <a:ext cx="4297680" cy="7772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C9CFD8"/>
                </a:solidFill>
                <a:latin typeface="Microsoft JhengHei"/>
              </a:rPr>
              <a:t>‧ AS-IS / TO-BE 流程圖整理（進行中）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C9CFD8"/>
                </a:solidFill>
                <a:latin typeface="Microsoft JhengHei"/>
              </a:rPr>
              <a:t>‧ 過往相關資料盤點與蒐集（進行中）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11274552" cy="178308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11274552" cy="384048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663440"/>
            <a:ext cx="7315200" cy="38404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35D0E6"/>
                </a:solidFill>
                <a:latin typeface="Microsoft JhengHei"/>
              </a:rPr>
              <a:t>開發團隊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663440"/>
            <a:ext cx="3749039" cy="38404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93A1"/>
                </a:solidFill>
                <a:latin typeface="Microsoft JhengHei"/>
              </a:rPr>
              <a:t>＊姓名待補，先以角色呈現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166360"/>
            <a:ext cx="2176272" cy="1143000"/>
          </a:xfrm>
          <a:prstGeom prst="rect">
            <a:avLst/>
          </a:prstGeom>
          <a:solidFill>
            <a:srgbClr val="101216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166360"/>
            <a:ext cx="2176272" cy="6350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330952"/>
            <a:ext cx="457200" cy="457200"/>
          </a:xfrm>
          <a:prstGeom prst="ellipse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330952"/>
            <a:ext cx="4572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35D0E6"/>
                </a:solidFill>
                <a:latin typeface="Microsoft JhengHei"/>
              </a:rPr>
              <a:t>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30952"/>
            <a:ext cx="1399032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專案經理 PM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843016"/>
            <a:ext cx="1865376" cy="41148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統籌規劃、時程控管與利害關係人溝通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98064" y="5166360"/>
            <a:ext cx="2176272" cy="1143000"/>
          </a:xfrm>
          <a:prstGeom prst="rect">
            <a:avLst/>
          </a:prstGeom>
          <a:solidFill>
            <a:srgbClr val="101216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98064" y="5166360"/>
            <a:ext cx="2176272" cy="63500"/>
          </a:xfrm>
          <a:prstGeom prst="rect">
            <a:avLst/>
          </a:prstGeom>
          <a:solidFill>
            <a:srgbClr val="3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62656" y="5330952"/>
            <a:ext cx="457200" cy="457200"/>
          </a:xfrm>
          <a:prstGeom prst="ellipse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62656" y="5330952"/>
            <a:ext cx="4572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3E8FD6"/>
                </a:solidFill>
                <a:latin typeface="Microsoft JhengHei"/>
              </a:rPr>
              <a:t>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11296" y="5330952"/>
            <a:ext cx="1399032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AI / Agent 工程師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62656" y="5843016"/>
            <a:ext cx="1865376" cy="41148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Agent 設計與平衡計算邏輯實作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5166360"/>
            <a:ext cx="2176272" cy="1143000"/>
          </a:xfrm>
          <a:prstGeom prst="rect">
            <a:avLst/>
          </a:prstGeom>
          <a:solidFill>
            <a:srgbClr val="101216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5166360"/>
            <a:ext cx="2176272" cy="63500"/>
          </a:xfrm>
          <a:prstGeom prst="rect">
            <a:avLst/>
          </a:prstGeom>
          <a:solidFill>
            <a:srgbClr val="4F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3792" y="5330952"/>
            <a:ext cx="457200" cy="457200"/>
          </a:xfrm>
          <a:prstGeom prst="ellipse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93792" y="5330952"/>
            <a:ext cx="4572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4FC17A"/>
                </a:solidFill>
                <a:latin typeface="Microsoft JhengHei"/>
              </a:rPr>
              <a:t>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42432" y="5330952"/>
            <a:ext cx="1399032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資料工程師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3792" y="5843016"/>
            <a:ext cx="1865376" cy="41148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資料盤點、清洗與跨系統串接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0336" y="5166360"/>
            <a:ext cx="2176272" cy="1143000"/>
          </a:xfrm>
          <a:prstGeom prst="rect">
            <a:avLst/>
          </a:prstGeom>
          <a:solidFill>
            <a:srgbClr val="101216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260336" y="5166360"/>
            <a:ext cx="2176272" cy="63500"/>
          </a:xfrm>
          <a:prstGeom prst="rect">
            <a:avLst/>
          </a:prstGeom>
          <a:solidFill>
            <a:srgbClr val="E7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424928" y="5330952"/>
            <a:ext cx="457200" cy="457200"/>
          </a:xfrm>
          <a:prstGeom prst="ellipse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24928" y="5330952"/>
            <a:ext cx="4572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7B43C"/>
                </a:solidFill>
                <a:latin typeface="Microsoft JhengHei"/>
              </a:rPr>
              <a:t>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5330952"/>
            <a:ext cx="1399032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領域 / 水務專家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8" y="5843016"/>
            <a:ext cx="1865376" cy="41148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水平衡與蒸發量計算驗證、申報需求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91472" y="5166360"/>
            <a:ext cx="2176272" cy="1143000"/>
          </a:xfrm>
          <a:prstGeom prst="rect">
            <a:avLst/>
          </a:prstGeom>
          <a:solidFill>
            <a:srgbClr val="101216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91472" y="5166360"/>
            <a:ext cx="2176272" cy="63500"/>
          </a:xfrm>
          <a:prstGeom prst="rect">
            <a:avLst/>
          </a:prstGeom>
          <a:solidFill>
            <a:srgbClr val="C77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656064" y="5330952"/>
            <a:ext cx="457200" cy="457200"/>
          </a:xfrm>
          <a:prstGeom prst="ellipse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56064" y="5330952"/>
            <a:ext cx="4572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C77DE0"/>
                </a:solidFill>
                <a:latin typeface="Microsoft JhengHei"/>
              </a:rPr>
              <a:t>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04704" y="5330952"/>
            <a:ext cx="1399032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測試 / QA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56064" y="5843016"/>
            <a:ext cx="1865376" cy="41148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準確性驗證與 UAT 使用者驗收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565392"/>
            <a:ext cx="11274552" cy="22860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8A93A1"/>
                </a:solidFill>
                <a:latin typeface="Microsoft JhengHei"/>
              </a:rPr>
              <a:t>下一步：凍結 TO-BE 需求範圍 ▶ 定義平衡計算公式與 Agent 規格 ▶ 完成歷史資料盤點（需相關單位協助提供資料來源與申報欄位）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9144000" cy="292608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5D0E6"/>
                </a:solidFill>
                <a:latin typeface="Microsoft JhengHei"/>
              </a:rPr>
              <a:t>MILESTONE ROADMAP ‧ 2026/06 → 2026/10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058400" cy="5486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專案里程碑（10 步驟）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097280" cy="45720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93A1"/>
                </a:solidFill>
                <a:latin typeface="Microsoft JhengHei"/>
              </a:rPr>
              <a:t>PAGE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74552" cy="25400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097280"/>
            <a:ext cx="1673352" cy="27432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5D0E6"/>
                </a:solidFill>
                <a:latin typeface="Microsoft JhengHei"/>
              </a:rPr>
              <a:t>完成後應產出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868680" cy="978408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63500" cy="978408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868680" cy="97840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需求確認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5D0E6"/>
                </a:solidFill>
                <a:latin typeface="Microsoft JhengHei"/>
              </a:rPr>
              <a:t>6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1417320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1435608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1417320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5D0E6"/>
                </a:solidFill>
                <a:latin typeface="Microsoft JhengHei"/>
              </a:rPr>
              <a:t>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1417320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24328" y="1417320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Agent 任務確認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1417320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1417320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明確定義水平衡／蒸發量計算範圍、痛點與 Agent 效益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1938528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956816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3976" y="1938528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5D0E6"/>
                </a:solidFill>
                <a:latin typeface="Microsoft JhengHei"/>
              </a:rPr>
              <a:t>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1938528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24328" y="1938528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作業流程定義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938528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1938528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將現行人工水量試算與申報流程，翻譯成 Agent 執行節點（AS-IS→TO-BE）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44200" y="1417320"/>
            <a:ext cx="38100" cy="978408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505456"/>
            <a:ext cx="868680" cy="1499616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2505456"/>
            <a:ext cx="63500" cy="1499616"/>
          </a:xfrm>
          <a:prstGeom prst="rect">
            <a:avLst/>
          </a:prstGeom>
          <a:solidFill>
            <a:srgbClr val="3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505456"/>
            <a:ext cx="868680" cy="1499616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知識建立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E8FD6"/>
                </a:solidFill>
                <a:latin typeface="Microsoft JhengHei"/>
              </a:rPr>
              <a:t>7 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2505456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2523744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3976" y="2505456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E8FD6"/>
                </a:solidFill>
                <a:latin typeface="Microsoft JhengHe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2505456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24328" y="2505456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資料文件盤點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17720" y="2505456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2505456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盤點歷史進出水量、用水紀錄與既有申報報表等所需資料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17320" y="3026664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17320" y="3044952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3976" y="3026664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E8FD6"/>
                </a:solidFill>
                <a:latin typeface="Microsoft JhengHei"/>
              </a:rPr>
              <a:t>40%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026664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4328" y="3026664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資料整理 / 清洗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17720" y="3026664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0" y="3026664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整理相關資料、去除雜訊、統一欄位格式，建立計算基準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17320" y="3547872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17320" y="3566160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93976" y="3547872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E8FD6"/>
                </a:solidFill>
                <a:latin typeface="Microsoft JhengHei"/>
              </a:rPr>
              <a:t>50%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3547872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24328" y="3547872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結構化分類 / 屬性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3547872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0" y="3547872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建立水量項目分類與屬性標籤，設定計算與檢索邊界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44200" y="2505456"/>
            <a:ext cx="38100" cy="1499616"/>
          </a:xfrm>
          <a:prstGeom prst="rect">
            <a:avLst/>
          </a:prstGeom>
          <a:solidFill>
            <a:srgbClr val="3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4114800"/>
            <a:ext cx="868680" cy="978408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114800"/>
            <a:ext cx="63500" cy="978408"/>
          </a:xfrm>
          <a:prstGeom prst="rect">
            <a:avLst/>
          </a:prstGeom>
          <a:solidFill>
            <a:srgbClr val="E7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114800"/>
            <a:ext cx="868680" cy="97840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計算邏輯與串接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7B43C"/>
                </a:solidFill>
                <a:latin typeface="Microsoft JhengHei"/>
              </a:rPr>
              <a:t>8 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17320" y="4114800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17320" y="4133088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3976" y="4114800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E7B43C"/>
                </a:solidFill>
                <a:latin typeface="Microsoft JhengHei"/>
              </a:rPr>
              <a:t>60%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14600" y="4114800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24328" y="4114800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計算邏輯 / Prompt 調校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17720" y="4114800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4114800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定義平衡計算公式與蒸發量推算邏輯，反覆調校降低判讀錯誤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17320" y="4636008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17320" y="4654296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93976" y="4636008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E7B43C"/>
                </a:solidFill>
                <a:latin typeface="Microsoft JhengHei"/>
              </a:rPr>
              <a:t>70%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14600" y="4636008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24328" y="4636008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跨系統串接測試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17720" y="4636008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54880" y="4636008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串接資料來源與申報系統，賦予 Agent 取數與輸出的「手腳」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744200" y="4114800"/>
            <a:ext cx="38100" cy="978408"/>
          </a:xfrm>
          <a:prstGeom prst="rect">
            <a:avLst/>
          </a:prstGeom>
          <a:solidFill>
            <a:srgbClr val="E7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200" y="5202936"/>
            <a:ext cx="868680" cy="1499616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7200" y="5202936"/>
            <a:ext cx="63500" cy="1499616"/>
          </a:xfrm>
          <a:prstGeom prst="rect">
            <a:avLst/>
          </a:prstGeom>
          <a:solidFill>
            <a:srgbClr val="4F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202936"/>
            <a:ext cx="868680" cy="1499616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驗證與上線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4FC17A"/>
                </a:solidFill>
                <a:latin typeface="Microsoft JhengHei"/>
              </a:rPr>
              <a:t>9–10 月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17320" y="5202936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17320" y="5221224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93976" y="5202936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4FC17A"/>
                </a:solidFill>
                <a:latin typeface="Microsoft JhengHei"/>
              </a:rPr>
              <a:t>80%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14600" y="5202936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5202936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準確性驗證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17720" y="5202936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0" y="5202936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以歷史實際資料對帳，驗證平衡計算與蒸發量結果無誤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17320" y="5724144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17320" y="5742432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93976" y="5724144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4FC17A"/>
                </a:solidFill>
                <a:latin typeface="Microsoft JhengHei"/>
              </a:rPr>
              <a:t>90%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14600" y="5724144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624328" y="5724144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上線測試（UAT）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5724144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0" y="5724144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平行測試，確認結果符合 Agent 定義且 UX 符合預期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17320" y="6245352"/>
            <a:ext cx="960120" cy="457200"/>
          </a:xfrm>
          <a:prstGeom prst="rect">
            <a:avLst/>
          </a:prstGeom>
          <a:solidFill>
            <a:srgbClr val="1B1F27"/>
          </a:solidFill>
          <a:ln w="12700">
            <a:solidFill>
              <a:srgbClr val="2A2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17320" y="6263640"/>
            <a:ext cx="713232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A93A1"/>
                </a:solidFill>
                <a:latin typeface="Microsoft Jheng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93976" y="6245352"/>
            <a:ext cx="27432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4FC17A"/>
                </a:solidFill>
                <a:latin typeface="Microsoft JhengHei"/>
              </a:rPr>
              <a:t>100%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14600" y="6245352"/>
            <a:ext cx="2011680" cy="457200"/>
          </a:xfrm>
          <a:prstGeom prst="rect">
            <a:avLst/>
          </a:prstGeom>
          <a:solidFill>
            <a:srgbClr val="C9C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624328" y="6245352"/>
            <a:ext cx="18288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81C22"/>
                </a:solidFill>
                <a:latin typeface="Microsoft JhengHei"/>
              </a:rPr>
              <a:t>正式上線回饋追蹤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17720" y="6245352"/>
            <a:ext cx="5989320" cy="457200"/>
          </a:xfrm>
          <a:prstGeom prst="rect">
            <a:avLst/>
          </a:prstGeom>
          <a:solidFill>
            <a:srgbClr val="B2B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54880" y="6245352"/>
            <a:ext cx="5715000" cy="45720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81C22"/>
                </a:solidFill>
                <a:latin typeface="Microsoft JhengHei"/>
              </a:rPr>
              <a:t>正式串接、公告上線，產出申報資料並持續追蹤優化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744200" y="5202936"/>
            <a:ext cx="38100" cy="1499616"/>
          </a:xfrm>
          <a:prstGeom prst="rect">
            <a:avLst/>
          </a:prstGeom>
          <a:solidFill>
            <a:srgbClr val="4F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927080" y="1417320"/>
            <a:ext cx="1234440" cy="97840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5D0E6"/>
                </a:solidFill>
                <a:latin typeface="Microsoft JhengHei"/>
              </a:rPr>
              <a:t>需求規格 / AS-IS·TO-BE 流程圖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27080" y="2505456"/>
            <a:ext cx="1234440" cy="1499616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E8FD6"/>
                </a:solidFill>
                <a:latin typeface="Microsoft JhengHei"/>
              </a:rPr>
              <a:t>知識庫 / 結構化資料集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27080" y="4114800"/>
            <a:ext cx="1234440" cy="978408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7B43C"/>
                </a:solidFill>
                <a:latin typeface="Microsoft JhengHei"/>
              </a:rPr>
              <a:t>平衡計算引擎 + Agent 串接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27080" y="5202936"/>
            <a:ext cx="1234440" cy="1499616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C17A"/>
                </a:solidFill>
                <a:latin typeface="Microsoft JhengHei"/>
              </a:rPr>
              <a:t>驗證報告 / 上線版申報資料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9144000" cy="292608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5D0E6"/>
                </a:solidFill>
                <a:latin typeface="Microsoft JhengHei"/>
              </a:rPr>
              <a:t>SYSTEM ARCHITECTURE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058400" cy="5486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系統架構流程圖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097280" cy="45720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93A1"/>
                </a:solidFill>
                <a:latin typeface="Microsoft JhengHei"/>
              </a:rPr>
              <a:t>PAGE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74552" cy="25400"/>
          </a:xfrm>
          <a:prstGeom prst="rect">
            <a:avLst/>
          </a:prstGeom>
          <a:solidFill>
            <a:srgbClr val="2A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65176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3E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011680" cy="63500"/>
          </a:xfrm>
          <a:prstGeom prst="rect">
            <a:avLst/>
          </a:prstGeom>
          <a:solidFill>
            <a:srgbClr val="3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74320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① 資料來源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SCADA / 水錶 /　進出水量 / 歷史報表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65176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4FC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2651760"/>
            <a:ext cx="2011680" cy="63500"/>
          </a:xfrm>
          <a:prstGeom prst="rect">
            <a:avLst/>
          </a:prstGeom>
          <a:solidFill>
            <a:srgbClr val="4F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74320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② 資料整理 + 知識庫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清洗統一格式　RAG 結構化分類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65176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35D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57800" y="2651760"/>
            <a:ext cx="2011680" cy="63500"/>
          </a:xfrm>
          <a:prstGeom prst="rect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74320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③ Agent 計算引擎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進出水平衡計算　蒸發量推算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265176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E7B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2651760"/>
            <a:ext cx="2011680" cy="63500"/>
          </a:xfrm>
          <a:prstGeom prst="rect">
            <a:avLst/>
          </a:prstGeom>
          <a:solidFill>
            <a:srgbClr val="E7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274320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④ 準確性驗證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歷史資料對帳　異常檢核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12680" y="265176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C77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12680" y="2651760"/>
            <a:ext cx="2011680" cy="63500"/>
          </a:xfrm>
          <a:prstGeom prst="rect">
            <a:avLst/>
          </a:prstGeom>
          <a:solidFill>
            <a:srgbClr val="C77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22408" y="274320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⑤ 申報資料整理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自動彙整　產出申報報表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51176" y="3076956"/>
            <a:ext cx="475488" cy="292608"/>
          </a:xfrm>
          <a:prstGeom prst="rightArrow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928616" y="3076956"/>
            <a:ext cx="475488" cy="292608"/>
          </a:xfrm>
          <a:prstGeom prst="rightArrow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7306056" y="3076956"/>
            <a:ext cx="475488" cy="292608"/>
          </a:xfrm>
          <a:prstGeom prst="rightArrow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683496" y="3076956"/>
            <a:ext cx="475488" cy="292608"/>
          </a:xfrm>
          <a:prstGeom prst="rightArrow">
            <a:avLst/>
          </a:prstGeom>
          <a:solidFill>
            <a:srgbClr val="35D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0" y="1691640"/>
            <a:ext cx="2286000" cy="502920"/>
          </a:xfrm>
          <a:prstGeom prst="rect">
            <a:avLst/>
          </a:prstGeom>
          <a:solidFill>
            <a:srgbClr val="2A2F39"/>
          </a:solidFill>
          <a:ln w="12700">
            <a:solidFill>
              <a:srgbClr val="35D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691640"/>
            <a:ext cx="2286000" cy="5029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5D0E6"/>
                </a:solidFill>
                <a:latin typeface="Microsoft JhengHei"/>
              </a:rPr>
              <a:t>Agent 代理層（自動編排）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63640" y="2194560"/>
            <a:ext cx="0" cy="457200"/>
          </a:xfrm>
          <a:prstGeom prst="line">
            <a:avLst/>
          </a:prstGeom>
          <a:ln w="15875">
            <a:solidFill>
              <a:srgbClr val="35D0E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0012680" y="4434840"/>
            <a:ext cx="2011680" cy="1143000"/>
          </a:xfrm>
          <a:prstGeom prst="rect">
            <a:avLst/>
          </a:prstGeom>
          <a:solidFill>
            <a:srgbClr val="1B1F27"/>
          </a:solidFill>
          <a:ln w="19050">
            <a:solidFill>
              <a:srgbClr val="4FC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12680" y="4434840"/>
            <a:ext cx="2011680" cy="63500"/>
          </a:xfrm>
          <a:prstGeom prst="rect">
            <a:avLst/>
          </a:prstGeom>
          <a:solidFill>
            <a:srgbClr val="4F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22408" y="4526280"/>
            <a:ext cx="1792224" cy="960120"/>
          </a:xfrm>
          <a:prstGeom prst="rect">
            <a:avLst/>
          </a:prstGeom>
          <a:noFill/>
        </p:spPr>
        <p:txBody>
          <a:bodyPr wrap="square" anchor="ctr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⑥ 輸出 / 交付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申報報表　管理儀表板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018520" y="3794760"/>
            <a:ext cx="0" cy="640080"/>
          </a:xfrm>
          <a:prstGeom prst="line">
            <a:avLst/>
          </a:prstGeom>
          <a:ln w="25400">
            <a:solidFill>
              <a:srgbClr val="4FC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263640" y="4023360"/>
            <a:ext cx="2377440" cy="0"/>
          </a:xfrm>
          <a:prstGeom prst="line">
            <a:avLst/>
          </a:prstGeom>
          <a:ln w="19050">
            <a:solidFill>
              <a:srgbClr val="E7B43C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641080" y="3794760"/>
            <a:ext cx="0" cy="228600"/>
          </a:xfrm>
          <a:prstGeom prst="line">
            <a:avLst/>
          </a:prstGeom>
          <a:ln w="19050">
            <a:solidFill>
              <a:srgbClr val="E7B43C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263640" y="3794760"/>
            <a:ext cx="0" cy="228600"/>
          </a:xfrm>
          <a:prstGeom prst="line">
            <a:avLst/>
          </a:prstGeom>
          <a:ln w="19050">
            <a:solidFill>
              <a:srgbClr val="E7B43C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4069080"/>
            <a:ext cx="2194560" cy="27432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E7B43C"/>
                </a:solidFill>
                <a:latin typeface="Microsoft JhengHei"/>
              </a:rPr>
              <a:t>驗證異常 → 回饋修正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120640"/>
            <a:ext cx="9052560" cy="128016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212080"/>
            <a:ext cx="8686800" cy="27432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5D0E6"/>
                </a:solidFill>
                <a:latin typeface="Microsoft JhengHei"/>
              </a:rPr>
              <a:t>流程說明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559552"/>
            <a:ext cx="8686800" cy="77724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C9CFD8"/>
                </a:solidFill>
                <a:latin typeface="Microsoft JhengHei"/>
              </a:rPr>
              <a:t>‧ 資料自來源彙整後經清洗與結構化進入知識庫，作為計算依據。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C9CFD8"/>
                </a:solidFill>
                <a:latin typeface="Microsoft JhengHei"/>
              </a:rPr>
              <a:t>‧ Agent 代理層自動編排平衡計算與蒸發量推算，結果經準確性驗證；異常則回饋修正後重算。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C9CFD8"/>
                </a:solidFill>
                <a:latin typeface="Microsoft JhengHei"/>
              </a:rPr>
              <a:t>‧ 驗證通過之數據自動整理為申報資料，輸出報表與管理儀表板。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37960"/>
            <a:ext cx="11247120" cy="228600"/>
          </a:xfrm>
          <a:prstGeom prst="rect">
            <a:avLst/>
          </a:prstGeom>
          <a:noFill/>
        </p:spPr>
        <p:txBody>
          <a:bodyPr wrap="square" anchor="t" tIns="0" bIns="0" lIns="25400" r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3A1"/>
                </a:solidFill>
                <a:latin typeface="Microsoft JhengHei"/>
              </a:rPr>
              <a:t>實線＝主資料流　|　虛線＝回饋／代理控制流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