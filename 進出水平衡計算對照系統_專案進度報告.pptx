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29A9A"/>
                </a:solidFill>
                <a:latin typeface="Microsoft JhengHei"/>
              </a:rPr>
              <a:t>專案進度報告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</a:rPr>
              <a:t>進出水平衡計算對照系統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B9C9DA"/>
                </a:solidFill>
                <a:latin typeface="Microsoft JhengHei"/>
              </a:rPr>
              <a:t>Water In/Out Balance Reconciliation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FDBE8"/>
                </a:solidFill>
                <a:latin typeface="Microsoft JhengHei"/>
              </a:rPr>
              <a:t>精確計算蒸發量 ‧ Agent 自動化平衡計算 ‧ 申報資料智慧整理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3C8"/>
                </a:solidFill>
                <a:latin typeface="Microsoft JhengHei"/>
              </a:rPr>
              <a:t>報告日期：2026 年 6 月　|　預計上線：2026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專案目的與說明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>
                <a:solidFill>
                  <a:srgbClr val="129A9A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4A"/>
                </a:solidFill>
                <a:latin typeface="Microsoft JhengHei"/>
              </a:rPr>
              <a:t>建立可稽核、可重複、可申報的進出水平衡計算機制，以系統取代人工試算。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611880" cy="1828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76200" cy="1828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4A"/>
                </a:solidFill>
                <a:latin typeface="Microsoft JhengHei"/>
              </a:rPr>
              <a:t>① 水平衡計算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彙整進水、出水與各項用水資料，建立進出水對照基準，確保水量帳務一致且可追溯。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3611880" cy="1828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57400"/>
            <a:ext cx="76200" cy="18288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4A"/>
                </a:solidFill>
                <a:latin typeface="Microsoft JhengHei"/>
              </a:rPr>
              <a:t>② 蒸發量精確計算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15768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以平衡差值反推蒸發量，取代估算，提升環境數據與用水效率分析的準確度。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057400"/>
            <a:ext cx="3611880" cy="1828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57400"/>
            <a:ext cx="76200" cy="1828800"/>
          </a:xfrm>
          <a:prstGeom prst="rect">
            <a:avLst/>
          </a:prstGeom>
          <a:solidFill>
            <a:srgbClr val="E09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4A"/>
                </a:solidFill>
                <a:latin typeface="Microsoft JhengHei"/>
              </a:rPr>
              <a:t>③ Agent 自動化申報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15768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由 Agent 代理執行平衡計算並自動整理後續申報所需資料，降低人工彙整負擔。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11064240" cy="16916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9884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A4A"/>
                </a:solidFill>
                <a:latin typeface="Microsoft JhengHei"/>
              </a:rPr>
              <a:t>為何重要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56048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‧ 法規申報要求水量數據可佐證、可追溯，人工試算易出錯且難以稽核。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‧ 蒸發量無法直接量測，需透過進出水平衡推算，計算邏輯一致性至關重要。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‧ 透過系統與 Agent 標準化流程，建立單一可信數據來源（Single Source of Truth）。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專案效益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>
                <a:solidFill>
                  <a:srgbClr val="129A9A"/>
                </a:solidFill>
                <a:latin typeface="Microsoft JhengHe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40680" cy="19659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40680" cy="566928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72184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4892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icrosoft JhengHei"/>
              </a:rPr>
              <a:t>Agent 代理執行平衡計算，減少反覆人工試算與資料搬運，釋放人力投入分析。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19659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40680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72184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準確性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30552"/>
            <a:ext cx="4892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icrosoft JhengHei"/>
              </a:rPr>
              <a:t>統一計算邏輯與資料來源，降低人為誤差，蒸發量推算結果可重現、可稽核。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5440680" cy="19659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40680" cy="566928"/>
          </a:xfrm>
          <a:prstGeom prst="rect">
            <a:avLst/>
          </a:prstGeom>
          <a:solidFill>
            <a:srgbClr val="E09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12464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效率提升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70832"/>
            <a:ext cx="4892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icrosoft JhengHei"/>
              </a:rPr>
              <a:t>申報資料自動彙整成型，縮短報表與申報前置作業時間。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5440680" cy="19659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57600"/>
            <a:ext cx="544068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12464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可追溯／合規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70832"/>
            <a:ext cx="4892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icrosoft JhengHei"/>
              </a:rPr>
              <a:t>完整保留計算過程與來源資料，滿足申報佐證與內部稽核需求。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當前進度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>
                <a:solidFill>
                  <a:srgbClr val="129A9A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4A"/>
                </a:solidFill>
                <a:latin typeface="Microsoft JhengHei"/>
              </a:rPr>
              <a:t>整體進度：需求釐清與現況盤點階段（約 25%）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11064240" cy="292608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743200" cy="292608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5440680" cy="1828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76200" cy="18288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4A"/>
                </a:solidFill>
                <a:latin typeface="Microsoft JhengHei"/>
              </a:rPr>
              <a:t>① AS-IS / TO-BE 流程圖整理（進行中）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72968"/>
            <a:ext cx="5074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盤點現況（AS-IS）人工計算與申報流程，並繪製目標（TO-BE）導入 Agent 後之自動化流程，界定系統範圍與差異缺口。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514600"/>
            <a:ext cx="5349240" cy="1828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514600"/>
            <a:ext cx="76200" cy="1828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4A"/>
                </a:solidFill>
                <a:latin typeface="Microsoft JhengHei"/>
              </a:rPr>
              <a:t>② 過往資料盤點與蒐集（進行中）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72968"/>
            <a:ext cx="4983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彙整歷史進出水量、用水紀錄與既有申報報表，確認資料來源、欄位格式與品質，作為計算邏輯與驗證之基礎。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11064240" cy="1417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A4A"/>
                </a:solidFill>
                <a:latin typeface="Microsoft JhengHei"/>
              </a:rPr>
              <a:t>近期重點 / 待辦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38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‧ 完成 TO-BE 流程確認，凍結第一版需求範圍。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F6B"/>
                </a:solidFill>
                <a:latin typeface="Microsoft JhengHei"/>
              </a:rPr>
              <a:t>‧ 確認申報所需欄位與計算公式，定義 Agent 計算邏輯規格。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專案時間軸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>
                <a:solidFill>
                  <a:srgbClr val="129A9A"/>
                </a:solidFill>
                <a:latin typeface="Microsoft Jheng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F6B"/>
                </a:solidFill>
                <a:latin typeface="Microsoft JhengHei"/>
              </a:rPr>
              <a:t>自 6 月現況盤點起，反向推導至 10 月正式上線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11064240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221992"/>
            <a:ext cx="292608" cy="292608"/>
          </a:xfrm>
          <a:prstGeom prst="ellipse">
            <a:avLst/>
          </a:prstGeom>
          <a:solidFill>
            <a:srgbClr val="129A9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29A9A"/>
                </a:solidFill>
                <a:latin typeface="Microsoft JhengHei"/>
              </a:rPr>
              <a:t>6 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2029968" cy="2926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2029968" cy="50292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20299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現況盤點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29000"/>
            <a:ext cx="175564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AS-IS/TO-BE 流程圖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歷史資料蒐集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需求範圍界定</a:t>
            </a:r>
          </a:p>
        </p:txBody>
      </p:sp>
      <p:sp>
        <p:nvSpPr>
          <p:cNvPr id="14" name="Oval 13"/>
          <p:cNvSpPr/>
          <p:nvPr/>
        </p:nvSpPr>
        <p:spPr>
          <a:xfrm>
            <a:off x="3721608" y="2221992"/>
            <a:ext cx="292608" cy="292608"/>
          </a:xfrm>
          <a:prstGeom prst="ellipse">
            <a:avLst/>
          </a:prstGeom>
          <a:solidFill>
            <a:srgbClr val="1F6FB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1783080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F6FB2"/>
                </a:solidFill>
                <a:latin typeface="Microsoft JhengHei"/>
              </a:rPr>
              <a:t>7 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2788920"/>
            <a:ext cx="2029968" cy="2926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52928" y="2788920"/>
            <a:ext cx="2029968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816352"/>
            <a:ext cx="20299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需求與設計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429000"/>
            <a:ext cx="175564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計算邏輯規格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Agent 流程設計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資料模型/介面</a:t>
            </a:r>
          </a:p>
        </p:txBody>
      </p:sp>
      <p:sp>
        <p:nvSpPr>
          <p:cNvPr id="20" name="Oval 19"/>
          <p:cNvSpPr/>
          <p:nvPr/>
        </p:nvSpPr>
        <p:spPr>
          <a:xfrm>
            <a:off x="5934456" y="2221992"/>
            <a:ext cx="292608" cy="292608"/>
          </a:xfrm>
          <a:prstGeom prst="ellipse">
            <a:avLst/>
          </a:prstGeom>
          <a:solidFill>
            <a:srgbClr val="0F2A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1783080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F2A4A"/>
                </a:solidFill>
                <a:latin typeface="Microsoft JhengHei"/>
              </a:rPr>
              <a:t>8 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5776" y="2788920"/>
            <a:ext cx="2029968" cy="2926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5776" y="2788920"/>
            <a:ext cx="2029968" cy="5029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2816352"/>
            <a:ext cx="20299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系統開發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429000"/>
            <a:ext cx="175564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平衡計算引擎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Agent 代理開發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申報整理模組</a:t>
            </a:r>
          </a:p>
        </p:txBody>
      </p:sp>
      <p:sp>
        <p:nvSpPr>
          <p:cNvPr id="26" name="Oval 25"/>
          <p:cNvSpPr/>
          <p:nvPr/>
        </p:nvSpPr>
        <p:spPr>
          <a:xfrm>
            <a:off x="8147304" y="2221992"/>
            <a:ext cx="292608" cy="292608"/>
          </a:xfrm>
          <a:prstGeom prst="ellipse">
            <a:avLst/>
          </a:prstGeom>
          <a:solidFill>
            <a:srgbClr val="E09F2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7184" y="1783080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E09F2A"/>
                </a:solidFill>
                <a:latin typeface="Microsoft JhengHei"/>
              </a:rPr>
              <a:t>9 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2788920"/>
            <a:ext cx="2029968" cy="2926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2788920"/>
            <a:ext cx="2029968" cy="502920"/>
          </a:xfrm>
          <a:prstGeom prst="rect">
            <a:avLst/>
          </a:prstGeom>
          <a:solidFill>
            <a:srgbClr val="E09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78624" y="2816352"/>
            <a:ext cx="20299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測試與驗證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429000"/>
            <a:ext cx="175564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整合測試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歷史資料對帳驗證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UAT 使用者驗收</a:t>
            </a:r>
          </a:p>
        </p:txBody>
      </p:sp>
      <p:sp>
        <p:nvSpPr>
          <p:cNvPr id="32" name="Oval 31"/>
          <p:cNvSpPr/>
          <p:nvPr/>
        </p:nvSpPr>
        <p:spPr>
          <a:xfrm>
            <a:off x="10360152" y="2221992"/>
            <a:ext cx="292608" cy="292608"/>
          </a:xfrm>
          <a:prstGeom prst="ellipse">
            <a:avLst/>
          </a:prstGeom>
          <a:solidFill>
            <a:srgbClr val="C053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32" y="1783080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0532B"/>
                </a:solidFill>
                <a:latin typeface="Microsoft JhengHei"/>
              </a:rPr>
              <a:t>10 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91472" y="2788920"/>
            <a:ext cx="2029968" cy="2926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91472" y="2788920"/>
            <a:ext cx="2029968" cy="502920"/>
          </a:xfrm>
          <a:prstGeom prst="rect">
            <a:avLst/>
          </a:prstGeom>
          <a:solidFill>
            <a:srgbClr val="C0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1472" y="2816352"/>
            <a:ext cx="20299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正式上線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3429000"/>
            <a:ext cx="175564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上線部署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申報資料產出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JhengHei"/>
              </a:rPr>
              <a:t>‧ 教育訓練/交付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2A4A"/>
                </a:solidFill>
                <a:latin typeface="Microsoft JhengHei"/>
              </a:rPr>
              <a:t>關鍵里程碑：6/底 需求凍結　▶　7/底 設計定案　▶　8/底 開發完成　▶　9/底 UAT 通過　▶　10 月 正式上線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結語 / 下一步計畫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3000" b="1">
                <a:solidFill>
                  <a:srgbClr val="129A9A"/>
                </a:solidFill>
                <a:latin typeface="Microsoft Jheng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A4A"/>
                </a:solidFill>
                <a:latin typeface="Microsoft JhengHei"/>
              </a:rPr>
              <a:t>以系統化、可稽核的進出水平衡機制，精準推算蒸發量，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A4A"/>
                </a:solidFill>
                <a:latin typeface="Microsoft JhengHei"/>
              </a:rPr>
              <a:t>並由 Agent 自動產出申報資料，朝 10 月上線目標穩步推進。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2103120" cy="67665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即將完成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743200"/>
            <a:ext cx="8915400" cy="67665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85953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icrosoft JhengHei"/>
              </a:rPr>
              <a:t>確認 TO-BE 流程並凍結第一版需求範圍。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84448"/>
            <a:ext cx="2103120" cy="67665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84448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近期啟動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3584448"/>
            <a:ext cx="8915400" cy="67665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584448"/>
            <a:ext cx="85953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icrosoft JhengHei"/>
              </a:rPr>
              <a:t>定義平衡計算公式與 Agent 計算邏輯規格。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25696"/>
            <a:ext cx="2103120" cy="67665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25696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資料準備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4425696"/>
            <a:ext cx="8915400" cy="67665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425696"/>
            <a:ext cx="85953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icrosoft JhengHei"/>
              </a:rPr>
              <a:t>完成歷史資料盤點，作為計算驗證基準。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66944"/>
            <a:ext cx="2103120" cy="67665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66944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需要協助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5266944"/>
            <a:ext cx="8915400" cy="67665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5266944"/>
            <a:ext cx="85953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icrosoft JhengHei"/>
              </a:rPr>
              <a:t>請相關單位協助提供資料來源與申報欄位確認。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