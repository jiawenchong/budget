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9144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8686800" cy="731520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JhengHei"/>
              </a:rPr>
              <a:t>進出水平衡計算對照系統 ‧ 專案進度報告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C4D2E2"/>
                </a:solidFill>
                <a:latin typeface="Microsoft JhengHei"/>
              </a:rPr>
              <a:t>精確計算蒸發量 ‧ Agent 自動化平衡計算與申報整理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09728"/>
            <a:ext cx="2743200" cy="731520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09F2A"/>
                </a:solidFill>
                <a:latin typeface="Microsoft JhengHei"/>
              </a:rPr>
              <a:t>預計上線：2026 / 10</a:t>
            </a:r>
          </a:p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C4D2E2"/>
                </a:solidFill>
                <a:latin typeface="Microsoft JhengHei"/>
              </a:rPr>
              <a:t>報告日期：2026 / 06　進度約 25%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553212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143000"/>
            <a:ext cx="5532120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143000"/>
            <a:ext cx="5257800" cy="384048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專案目的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5212080" cy="1280160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444F5B"/>
                </a:solidFill>
                <a:latin typeface="Microsoft JhengHei"/>
              </a:rPr>
              <a:t>‧ 水平衡計算：彙整進／出水資料，建立可稽核的進出水對照基準。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444F5B"/>
                </a:solidFill>
                <a:latin typeface="Microsoft JhengHei"/>
              </a:rPr>
              <a:t>‧ 蒸發量推算：以平衡差值精確反推蒸發量，取代人工估算。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444F5B"/>
                </a:solidFill>
                <a:latin typeface="Microsoft JhengHei"/>
              </a:rPr>
              <a:t>‧ Agent 自動化：代理執行平衡計算並整理後續申報所需資料。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143000"/>
            <a:ext cx="5532120" cy="1783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143000"/>
            <a:ext cx="5532120" cy="384048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143000"/>
            <a:ext cx="5257800" cy="384048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專案效益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28232" y="1627632"/>
            <a:ext cx="91440" cy="54864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11112" y="1627632"/>
            <a:ext cx="2468880" cy="548640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F2A4A"/>
                </a:solidFill>
                <a:latin typeface="Microsoft JhengHei"/>
              </a:rPr>
              <a:t>自動化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444F5B"/>
                </a:solidFill>
                <a:latin typeface="Microsoft JhengHei"/>
              </a:rPr>
              <a:t>減少人工試算與資料搬運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5712" y="1627632"/>
            <a:ext cx="91440" cy="5486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1627632"/>
            <a:ext cx="2468880" cy="548640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F2A4A"/>
                </a:solidFill>
                <a:latin typeface="Microsoft JhengHei"/>
              </a:rPr>
              <a:t>準確性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444F5B"/>
                </a:solidFill>
                <a:latin typeface="Microsoft JhengHei"/>
              </a:rPr>
              <a:t>統一邏輯、結果可重現可稽核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28232" y="2286000"/>
            <a:ext cx="91440" cy="548640"/>
          </a:xfrm>
          <a:prstGeom prst="rect">
            <a:avLst/>
          </a:prstGeom>
          <a:solidFill>
            <a:srgbClr val="E09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11112" y="2286000"/>
            <a:ext cx="2468880" cy="548640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F2A4A"/>
                </a:solidFill>
                <a:latin typeface="Microsoft JhengHei"/>
              </a:rPr>
              <a:t>效率提升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444F5B"/>
                </a:solidFill>
                <a:latin typeface="Microsoft JhengHei"/>
              </a:rPr>
              <a:t>申報資料自動彙整成型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12" y="2286000"/>
            <a:ext cx="91440" cy="54864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8592" y="2286000"/>
            <a:ext cx="2468880" cy="548640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0F2A4A"/>
                </a:solidFill>
                <a:latin typeface="Microsoft JhengHei"/>
              </a:rPr>
              <a:t>可追溯／合規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444F5B"/>
                </a:solidFill>
                <a:latin typeface="Microsoft JhengHei"/>
              </a:rPr>
              <a:t>保留計算過程滿足申報佐證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108960"/>
            <a:ext cx="11384280" cy="12344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3108960"/>
            <a:ext cx="11384280" cy="384048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3108960"/>
            <a:ext cx="11109960" cy="384048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當前進度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3611880"/>
            <a:ext cx="5486400" cy="201168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3611880"/>
            <a:ext cx="1371600" cy="201168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3566160"/>
            <a:ext cx="1097280" cy="292608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29A9A"/>
                </a:solidFill>
                <a:latin typeface="Microsoft JhengHei"/>
              </a:rPr>
              <a:t>約 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913632"/>
            <a:ext cx="10972800" cy="457200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444F5B"/>
                </a:solidFill>
                <a:latin typeface="Microsoft JhengHei"/>
              </a:rPr>
              <a:t>‧ AS-IS / TO-BE 流程圖整理（進行中）　　‧ 過往相關資料盤點與蒐集（進行中）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444F5B"/>
                </a:solidFill>
                <a:latin typeface="Microsoft JhengHei"/>
              </a:rPr>
              <a:t>‧ 近期重點：凍結第一版需求範圍、確認申報欄位與 Agent 計算邏輯規格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526280"/>
            <a:ext cx="11384280" cy="21488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526280"/>
            <a:ext cx="11384280" cy="384048"/>
          </a:xfrm>
          <a:prstGeom prst="rect">
            <a:avLst/>
          </a:prstGeom>
          <a:solidFill>
            <a:srgbClr val="E09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72" y="4526280"/>
            <a:ext cx="11109960" cy="384048"/>
          </a:xfrm>
          <a:prstGeom prst="rect">
            <a:avLst/>
          </a:prstGeom>
          <a:noFill/>
        </p:spPr>
        <p:txBody>
          <a:bodyPr wrap="square" anchor="ctr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專案時間軸 Timeline（6 月 → 10 月上線）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257800"/>
            <a:ext cx="10927080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23060" y="5175504"/>
            <a:ext cx="237744" cy="237744"/>
          </a:xfrm>
          <a:prstGeom prst="ellipse">
            <a:avLst/>
          </a:prstGeom>
          <a:solidFill>
            <a:srgbClr val="129A9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56048"/>
            <a:ext cx="2185416" cy="274320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29A9A"/>
                </a:solidFill>
                <a:latin typeface="Microsoft JhengHei"/>
              </a:rPr>
              <a:t>6 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5596128"/>
            <a:ext cx="203911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5596128"/>
            <a:ext cx="2039112" cy="50800"/>
          </a:xfrm>
          <a:prstGeom prst="rect">
            <a:avLst/>
          </a:prstGeom>
          <a:solidFill>
            <a:srgbClr val="12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5669280"/>
            <a:ext cx="2039112" cy="548640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A4A"/>
                </a:solidFill>
                <a:latin typeface="Microsoft JhengHei"/>
              </a:rPr>
              <a:t>現況盤點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44F5B"/>
                </a:solidFill>
                <a:latin typeface="Microsoft JhengHei"/>
              </a:rPr>
              <a:t>流程圖整理／資料蒐集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" y="6272784"/>
            <a:ext cx="20391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129A9A"/>
                </a:solidFill>
                <a:latin typeface="Microsoft JhengHei"/>
              </a:rPr>
              <a:t>◆ 需求凍結</a:t>
            </a:r>
          </a:p>
        </p:txBody>
      </p:sp>
      <p:sp>
        <p:nvSpPr>
          <p:cNvPr id="39" name="Oval 38"/>
          <p:cNvSpPr/>
          <p:nvPr/>
        </p:nvSpPr>
        <p:spPr>
          <a:xfrm>
            <a:off x="3808476" y="5175504"/>
            <a:ext cx="237744" cy="237744"/>
          </a:xfrm>
          <a:prstGeom prst="ellipse">
            <a:avLst/>
          </a:prstGeom>
          <a:solidFill>
            <a:srgbClr val="1F6FB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25496" y="4956048"/>
            <a:ext cx="2185416" cy="274320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F6FB2"/>
                </a:solidFill>
                <a:latin typeface="Microsoft JhengHei"/>
              </a:rPr>
              <a:t>7 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98648" y="5596128"/>
            <a:ext cx="203911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898648" y="5596128"/>
            <a:ext cx="2039112" cy="508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98648" y="5669280"/>
            <a:ext cx="2039112" cy="548640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A4A"/>
                </a:solidFill>
                <a:latin typeface="Microsoft JhengHei"/>
              </a:rPr>
              <a:t>需求與設計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44F5B"/>
                </a:solidFill>
                <a:latin typeface="Microsoft JhengHei"/>
              </a:rPr>
              <a:t>計算邏輯／Agent 設計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98648" y="6272784"/>
            <a:ext cx="20391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1F6FB2"/>
                </a:solidFill>
                <a:latin typeface="Microsoft JhengHei"/>
              </a:rPr>
              <a:t>◆ 設計定案</a:t>
            </a:r>
          </a:p>
        </p:txBody>
      </p:sp>
      <p:sp>
        <p:nvSpPr>
          <p:cNvPr id="45" name="Oval 44"/>
          <p:cNvSpPr/>
          <p:nvPr/>
        </p:nvSpPr>
        <p:spPr>
          <a:xfrm>
            <a:off x="5993892" y="5175504"/>
            <a:ext cx="237744" cy="237744"/>
          </a:xfrm>
          <a:prstGeom prst="ellipse">
            <a:avLst/>
          </a:prstGeom>
          <a:solidFill>
            <a:srgbClr val="0F2A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10912" y="4956048"/>
            <a:ext cx="2185416" cy="274320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F2A4A"/>
                </a:solidFill>
                <a:latin typeface="Microsoft JhengHei"/>
              </a:rPr>
              <a:t>8 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84064" y="5596128"/>
            <a:ext cx="203911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84064" y="5596128"/>
            <a:ext cx="2039112" cy="508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84064" y="5669280"/>
            <a:ext cx="2039112" cy="548640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A4A"/>
                </a:solidFill>
                <a:latin typeface="Microsoft JhengHei"/>
              </a:rPr>
              <a:t>系統開發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44F5B"/>
                </a:solidFill>
                <a:latin typeface="Microsoft JhengHei"/>
              </a:rPr>
              <a:t>計算引擎／Agent 開發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84064" y="6272784"/>
            <a:ext cx="20391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0F2A4A"/>
                </a:solidFill>
                <a:latin typeface="Microsoft JhengHei"/>
              </a:rPr>
              <a:t>◆ 開發完成</a:t>
            </a:r>
          </a:p>
        </p:txBody>
      </p:sp>
      <p:sp>
        <p:nvSpPr>
          <p:cNvPr id="51" name="Oval 50"/>
          <p:cNvSpPr/>
          <p:nvPr/>
        </p:nvSpPr>
        <p:spPr>
          <a:xfrm>
            <a:off x="8179308" y="5175504"/>
            <a:ext cx="237744" cy="237744"/>
          </a:xfrm>
          <a:prstGeom prst="ellipse">
            <a:avLst/>
          </a:prstGeom>
          <a:solidFill>
            <a:srgbClr val="E09F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96328" y="4956048"/>
            <a:ext cx="2185416" cy="274320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09F2A"/>
                </a:solidFill>
                <a:latin typeface="Microsoft JhengHei"/>
              </a:rPr>
              <a:t>9 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69480" y="5596128"/>
            <a:ext cx="203911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269480" y="5596128"/>
            <a:ext cx="2039112" cy="50800"/>
          </a:xfrm>
          <a:prstGeom prst="rect">
            <a:avLst/>
          </a:prstGeom>
          <a:solidFill>
            <a:srgbClr val="E09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69480" y="5669280"/>
            <a:ext cx="2039112" cy="548640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A4A"/>
                </a:solidFill>
                <a:latin typeface="Microsoft JhengHei"/>
              </a:rPr>
              <a:t>測試驗證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44F5B"/>
                </a:solidFill>
                <a:latin typeface="Microsoft JhengHei"/>
              </a:rPr>
              <a:t>整合測試／資料對帳／UAT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69480" y="6272784"/>
            <a:ext cx="20391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E09F2A"/>
                </a:solidFill>
                <a:latin typeface="Microsoft JhengHei"/>
              </a:rPr>
              <a:t>◆ UAT 通過</a:t>
            </a:r>
          </a:p>
        </p:txBody>
      </p:sp>
      <p:sp>
        <p:nvSpPr>
          <p:cNvPr id="57" name="Oval 56"/>
          <p:cNvSpPr/>
          <p:nvPr/>
        </p:nvSpPr>
        <p:spPr>
          <a:xfrm>
            <a:off x="10364724" y="5175504"/>
            <a:ext cx="237744" cy="237744"/>
          </a:xfrm>
          <a:prstGeom prst="ellipse">
            <a:avLst/>
          </a:prstGeom>
          <a:solidFill>
            <a:srgbClr val="C0532B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81744" y="4956048"/>
            <a:ext cx="2185416" cy="274320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0532B"/>
                </a:solidFill>
                <a:latin typeface="Microsoft JhengHei"/>
              </a:rPr>
              <a:t>10 月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54896" y="5596128"/>
            <a:ext cx="203911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54896" y="5596128"/>
            <a:ext cx="2039112" cy="50800"/>
          </a:xfrm>
          <a:prstGeom prst="rect">
            <a:avLst/>
          </a:prstGeom>
          <a:solidFill>
            <a:srgbClr val="C05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454896" y="5669280"/>
            <a:ext cx="2039112" cy="548640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F2A4A"/>
                </a:solidFill>
                <a:latin typeface="Microsoft JhengHei"/>
              </a:rPr>
              <a:t>正式上線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44F5B"/>
                </a:solidFill>
                <a:latin typeface="Microsoft JhengHei"/>
              </a:rPr>
              <a:t>部署／申報產出／訓練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54896" y="6272784"/>
            <a:ext cx="2039112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>
                <a:solidFill>
                  <a:srgbClr val="C0532B"/>
                </a:solidFill>
                <a:latin typeface="Microsoft JhengHei"/>
              </a:rPr>
              <a:t>◆ 正式上線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1480" y="6583680"/>
            <a:ext cx="11384280" cy="256032"/>
          </a:xfrm>
          <a:prstGeom prst="rect">
            <a:avLst/>
          </a:prstGeom>
          <a:noFill/>
        </p:spPr>
        <p:txBody>
          <a:bodyPr wrap="square" anchor="t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F2A4A"/>
                </a:solidFill>
                <a:latin typeface="Microsoft JhengHei"/>
              </a:rPr>
              <a:t>下一步：確認 TO-BE 流程並凍結需求 ▶ 定義計算公式與 Agent 規格 ▶ 完成歷史資料盤點（需相關單位協助提供資料來源與申報欄位）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